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715125" y="285750"/>
            <a:ext cx="2000250" cy="2000250"/>
          </a:xfrm>
          <a:prstGeom prst="ellipse">
            <a:avLst/>
          </a:prstGeom>
          <a:solidFill>
            <a:srgbClr val="E8E6D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3500438"/>
            <a:ext cx="1428750" cy="1428750"/>
          </a:xfrm>
          <a:prstGeom prst="ellipse">
            <a:avLst/>
          </a:prstGeom>
          <a:solidFill>
            <a:srgbClr val="F0EEE6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875" y="428625"/>
            <a:ext cx="21431" cy="4286250"/>
          </a:xfrm>
          <a:prstGeom prst="rect">
            <a:avLst/>
          </a:prstGeom>
          <a:solidFill>
            <a:srgbClr val="C96442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2938" y="264319"/>
            <a:ext cx="285750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7" name="Text 5"/>
          <p:cNvSpPr/>
          <p:nvPr/>
        </p:nvSpPr>
        <p:spPr>
          <a:xfrm>
            <a:off x="1015026" y="214313"/>
            <a:ext cx="11144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保研面试展示 · 2026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642938" y="1700213"/>
            <a:ext cx="8286750" cy="4786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王宇飞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2938" y="2236663"/>
            <a:ext cx="8286750" cy="2286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华东师范大学 · 软件工程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2938" y="2751013"/>
            <a:ext cx="1150144" cy="250031"/>
          </a:xfrm>
          <a:prstGeom prst="roundRect">
            <a:avLst>
              <a:gd name="adj" fmla="val 20898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400" y="2840310"/>
            <a:ext cx="71438" cy="714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4988" y="2808163"/>
            <a:ext cx="792956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图神经网络医疗AI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877969" y="2751013"/>
            <a:ext cx="1157288" cy="250031"/>
          </a:xfrm>
          <a:prstGeom prst="roundRect">
            <a:avLst>
              <a:gd name="adj" fmla="val 20898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69" y="2840310"/>
            <a:ext cx="71438" cy="71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20019" y="2808163"/>
            <a:ext cx="8001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视觉语言模型安全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0" y="3308226"/>
            <a:ext cx="71438" cy="714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8481" y="3286795"/>
            <a:ext cx="85725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flyswxf@gmail.com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350" y="3308226"/>
            <a:ext cx="71438" cy="7143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86015" y="3286795"/>
            <a:ext cx="8143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github.com/flyswxf</a:t>
            </a:r>
            <a:endParaRPr lang="en-US" sz="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100" y="3518967"/>
            <a:ext cx="71438" cy="714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97198" y="3486820"/>
            <a:ext cx="9144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学号：10235101413</a:t>
            </a:r>
            <a:endParaRPr lang="en-US" sz="7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350" y="3518967"/>
            <a:ext cx="71438" cy="714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83448" y="3497535"/>
            <a:ext cx="814388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2023.09 - 2027.07</a:t>
            </a:r>
            <a:endParaRPr lang="en-US" sz="700" dirty="0"/>
          </a:p>
        </p:txBody>
      </p:sp>
      <p:sp>
        <p:nvSpPr>
          <p:cNvPr id="24" name="Shape 16"/>
          <p:cNvSpPr/>
          <p:nvPr/>
        </p:nvSpPr>
        <p:spPr>
          <a:xfrm>
            <a:off x="642379" y="4886325"/>
            <a:ext cx="3243262" cy="7144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25" name="Text 17"/>
          <p:cNvSpPr/>
          <p:nvPr/>
        </p:nvSpPr>
        <p:spPr>
          <a:xfrm>
            <a:off x="4000500" y="4850606"/>
            <a:ext cx="1571625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ECNU · SOFTWARE ENGINEERING</a:t>
            </a:r>
            <a:endParaRPr lang="en-US" sz="500" dirty="0"/>
          </a:p>
        </p:txBody>
      </p:sp>
      <p:sp>
        <p:nvSpPr>
          <p:cNvPr id="26" name="Shape 18"/>
          <p:cNvSpPr/>
          <p:nvPr/>
        </p:nvSpPr>
        <p:spPr>
          <a:xfrm>
            <a:off x="5686983" y="4886325"/>
            <a:ext cx="3243262" cy="7144"/>
          </a:xfrm>
          <a:prstGeom prst="rect">
            <a:avLst/>
          </a:prstGeom>
          <a:solidFill>
            <a:srgbClr val="E8E6D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4312" y="253603"/>
            <a:ext cx="2600325" cy="2428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扎实学业基础与持续荣誉积累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4312" y="495040"/>
            <a:ext cx="260032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Excellence &amp; Sustained Honors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714375"/>
            <a:ext cx="2100263" cy="835819"/>
          </a:xfrm>
          <a:prstGeom prst="roundRect">
            <a:avLst>
              <a:gd name="adj" fmla="val 748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71" y="846534"/>
            <a:ext cx="78581" cy="785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4455" y="842962"/>
            <a:ext cx="185738" cy="857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28613" y="1143000"/>
            <a:ext cx="1871663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3.73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4.0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00300" y="714375"/>
            <a:ext cx="2100263" cy="835819"/>
          </a:xfrm>
          <a:prstGeom prst="roundRect">
            <a:avLst>
              <a:gd name="adj" fmla="val 748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58" y="846534"/>
            <a:ext cx="78581" cy="785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2173" y="832247"/>
            <a:ext cx="171450" cy="107156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排名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2514600" y="1143000"/>
            <a:ext cx="1871663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189（前10%）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214313" y="1635919"/>
            <a:ext cx="2100263" cy="892969"/>
          </a:xfrm>
          <a:prstGeom prst="roundRect">
            <a:avLst>
              <a:gd name="adj" fmla="val 6554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71" y="1768078"/>
            <a:ext cx="78581" cy="785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4344" y="1764506"/>
            <a:ext cx="264319" cy="857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CET-6</a:t>
            </a:r>
            <a:endParaRPr lang="en-US" sz="600" dirty="0"/>
          </a:p>
        </p:txBody>
      </p:sp>
      <p:sp>
        <p:nvSpPr>
          <p:cNvPr id="18" name="Text 13"/>
          <p:cNvSpPr/>
          <p:nvPr/>
        </p:nvSpPr>
        <p:spPr>
          <a:xfrm>
            <a:off x="328613" y="2121694"/>
            <a:ext cx="1871663" cy="2928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636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2400300" y="1635919"/>
            <a:ext cx="2100263" cy="892969"/>
          </a:xfrm>
          <a:prstGeom prst="roundRect">
            <a:avLst>
              <a:gd name="adj" fmla="val 6554"/>
            </a:avLst>
          </a:prstGeom>
          <a:solidFill>
            <a:srgbClr val="14141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158" y="1768078"/>
            <a:ext cx="78581" cy="7858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52564" y="1753791"/>
            <a:ext cx="257175" cy="107156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奖学金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2514600" y="2064544"/>
            <a:ext cx="1871663" cy="3500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连续两年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专业一等奖学金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643437" y="714375"/>
            <a:ext cx="4286250" cy="1814512"/>
          </a:xfrm>
          <a:prstGeom prst="roundRect">
            <a:avLst>
              <a:gd name="adj" fmla="val 1587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25" y="832247"/>
            <a:ext cx="71438" cy="714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56076" y="800100"/>
            <a:ext cx="6858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综合能力雷达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707546" y="1682553"/>
            <a:ext cx="158033" cy="182480"/>
          </a:xfrm>
          <a:custGeom>
            <a:avLst/>
            <a:gdLst/>
            <a:ahLst/>
            <a:cxnLst/>
            <a:rect l="l" t="t" r="r" b="b"/>
            <a:pathLst>
              <a:path w="158033" h="182480">
                <a:moveTo>
                  <a:pt x="79016" y="0"/>
                </a:moveTo>
                <a:lnTo>
                  <a:pt x="0" y="45620"/>
                </a:lnTo>
                <a:lnTo>
                  <a:pt x="0" y="136860"/>
                </a:lnTo>
                <a:lnTo>
                  <a:pt x="79016" y="182480"/>
                </a:lnTo>
                <a:lnTo>
                  <a:pt x="158033" y="136860"/>
                </a:lnTo>
                <a:lnTo>
                  <a:pt x="158033" y="45620"/>
                </a:lnTo>
                <a:lnTo>
                  <a:pt x="79016" y="0"/>
                </a:lnTo>
                <a:lnTo>
                  <a:pt x="79016" y="91240"/>
                </a:lnTo>
                <a:close/>
              </a:path>
            </a:pathLst>
          </a:custGeom>
          <a:solidFill>
            <a:srgbClr val="FAF9F5"/>
          </a:solidFill>
          <a:ln/>
        </p:spPr>
      </p:sp>
      <p:sp>
        <p:nvSpPr>
          <p:cNvPr id="27" name="Shape 20"/>
          <p:cNvSpPr/>
          <p:nvPr/>
        </p:nvSpPr>
        <p:spPr>
          <a:xfrm>
            <a:off x="6549514" y="1500073"/>
            <a:ext cx="474096" cy="547440"/>
          </a:xfrm>
          <a:custGeom>
            <a:avLst/>
            <a:gdLst/>
            <a:ahLst/>
            <a:cxnLst/>
            <a:rect l="l" t="t" r="r" b="b"/>
            <a:pathLst>
              <a:path w="474096" h="547440">
                <a:moveTo>
                  <a:pt x="237048" y="0"/>
                </a:moveTo>
                <a:lnTo>
                  <a:pt x="0" y="136860"/>
                </a:lnTo>
                <a:lnTo>
                  <a:pt x="0" y="410580"/>
                </a:lnTo>
                <a:lnTo>
                  <a:pt x="237048" y="547440"/>
                </a:lnTo>
                <a:lnTo>
                  <a:pt x="474096" y="410580"/>
                </a:lnTo>
                <a:lnTo>
                  <a:pt x="474096" y="136860"/>
                </a:lnTo>
                <a:lnTo>
                  <a:pt x="237048" y="0"/>
                </a:lnTo>
                <a:lnTo>
                  <a:pt x="237048" y="91240"/>
                </a:lnTo>
                <a:lnTo>
                  <a:pt x="395081" y="182480"/>
                </a:lnTo>
                <a:lnTo>
                  <a:pt x="395081" y="364960"/>
                </a:lnTo>
                <a:lnTo>
                  <a:pt x="237048" y="456200"/>
                </a:lnTo>
                <a:lnTo>
                  <a:pt x="79016" y="364960"/>
                </a:lnTo>
                <a:lnTo>
                  <a:pt x="79016" y="182480"/>
                </a:lnTo>
                <a:lnTo>
                  <a:pt x="237048" y="91240"/>
                </a:lnTo>
                <a:close/>
              </a:path>
            </a:pathLst>
          </a:custGeom>
          <a:solidFill>
            <a:srgbClr val="FAF9F5"/>
          </a:solidFill>
          <a:ln/>
        </p:spPr>
      </p:sp>
      <p:sp>
        <p:nvSpPr>
          <p:cNvPr id="28" name="Shape 21"/>
          <p:cNvSpPr/>
          <p:nvPr/>
        </p:nvSpPr>
        <p:spPr>
          <a:xfrm>
            <a:off x="6391482" y="1317593"/>
            <a:ext cx="790162" cy="912400"/>
          </a:xfrm>
          <a:custGeom>
            <a:avLst/>
            <a:gdLst/>
            <a:ahLst/>
            <a:cxnLst/>
            <a:rect l="l" t="t" r="r" b="b"/>
            <a:pathLst>
              <a:path w="790162" h="912400">
                <a:moveTo>
                  <a:pt x="395081" y="0"/>
                </a:moveTo>
                <a:lnTo>
                  <a:pt x="0" y="228100"/>
                </a:lnTo>
                <a:lnTo>
                  <a:pt x="0" y="684300"/>
                </a:lnTo>
                <a:lnTo>
                  <a:pt x="395081" y="912400"/>
                </a:lnTo>
                <a:lnTo>
                  <a:pt x="790162" y="684300"/>
                </a:lnTo>
                <a:lnTo>
                  <a:pt x="790162" y="228100"/>
                </a:lnTo>
                <a:lnTo>
                  <a:pt x="395081" y="0"/>
                </a:lnTo>
                <a:lnTo>
                  <a:pt x="395081" y="91240"/>
                </a:lnTo>
                <a:lnTo>
                  <a:pt x="711145" y="273720"/>
                </a:lnTo>
                <a:lnTo>
                  <a:pt x="711145" y="638680"/>
                </a:lnTo>
                <a:lnTo>
                  <a:pt x="395081" y="821160"/>
                </a:lnTo>
                <a:lnTo>
                  <a:pt x="79016" y="638680"/>
                </a:lnTo>
                <a:lnTo>
                  <a:pt x="79016" y="273720"/>
                </a:lnTo>
                <a:lnTo>
                  <a:pt x="395081" y="91240"/>
                </a:lnTo>
                <a:close/>
              </a:path>
            </a:pathLst>
          </a:custGeom>
          <a:solidFill>
            <a:srgbClr val="FAF9F5"/>
          </a:solidFill>
          <a:ln/>
        </p:spPr>
      </p:sp>
      <p:sp>
        <p:nvSpPr>
          <p:cNvPr id="29" name="Shape 22"/>
          <p:cNvSpPr/>
          <p:nvPr/>
        </p:nvSpPr>
        <p:spPr>
          <a:xfrm>
            <a:off x="6628530" y="1591313"/>
            <a:ext cx="316065" cy="364960"/>
          </a:xfrm>
          <a:custGeom>
            <a:avLst/>
            <a:gdLst/>
            <a:ahLst/>
            <a:cxnLst/>
            <a:rect l="l" t="t" r="r" b="b"/>
            <a:pathLst>
              <a:path w="316065" h="364960">
                <a:moveTo>
                  <a:pt x="158033" y="0"/>
                </a:moveTo>
                <a:lnTo>
                  <a:pt x="0" y="91240"/>
                </a:lnTo>
                <a:lnTo>
                  <a:pt x="0" y="273720"/>
                </a:lnTo>
                <a:lnTo>
                  <a:pt x="158033" y="364960"/>
                </a:lnTo>
                <a:lnTo>
                  <a:pt x="316065" y="273720"/>
                </a:lnTo>
                <a:lnTo>
                  <a:pt x="316065" y="91240"/>
                </a:lnTo>
                <a:lnTo>
                  <a:pt x="158033" y="0"/>
                </a:lnTo>
                <a:lnTo>
                  <a:pt x="158033" y="91240"/>
                </a:lnTo>
                <a:lnTo>
                  <a:pt x="237049" y="136860"/>
                </a:lnTo>
                <a:lnTo>
                  <a:pt x="237049" y="228100"/>
                </a:lnTo>
                <a:lnTo>
                  <a:pt x="158033" y="273720"/>
                </a:lnTo>
                <a:lnTo>
                  <a:pt x="79016" y="228100"/>
                </a:lnTo>
                <a:lnTo>
                  <a:pt x="79016" y="136860"/>
                </a:lnTo>
                <a:lnTo>
                  <a:pt x="158033" y="91240"/>
                </a:lnTo>
                <a:close/>
              </a:path>
            </a:pathLst>
          </a:custGeom>
          <a:solidFill>
            <a:srgbClr val="F5F4ED"/>
          </a:solidFill>
          <a:ln/>
        </p:spPr>
      </p:sp>
      <p:sp>
        <p:nvSpPr>
          <p:cNvPr id="30" name="Shape 23"/>
          <p:cNvSpPr/>
          <p:nvPr/>
        </p:nvSpPr>
        <p:spPr>
          <a:xfrm>
            <a:off x="6470498" y="1408833"/>
            <a:ext cx="632129" cy="729920"/>
          </a:xfrm>
          <a:custGeom>
            <a:avLst/>
            <a:gdLst/>
            <a:ahLst/>
            <a:cxnLst/>
            <a:rect l="l" t="t" r="r" b="b"/>
            <a:pathLst>
              <a:path w="632129" h="729920">
                <a:moveTo>
                  <a:pt x="316065" y="0"/>
                </a:moveTo>
                <a:lnTo>
                  <a:pt x="0" y="182480"/>
                </a:lnTo>
                <a:lnTo>
                  <a:pt x="0" y="547440"/>
                </a:lnTo>
                <a:lnTo>
                  <a:pt x="316065" y="729920"/>
                </a:lnTo>
                <a:lnTo>
                  <a:pt x="632129" y="547440"/>
                </a:lnTo>
                <a:lnTo>
                  <a:pt x="632129" y="182480"/>
                </a:lnTo>
                <a:lnTo>
                  <a:pt x="316065" y="0"/>
                </a:lnTo>
                <a:lnTo>
                  <a:pt x="316065" y="91240"/>
                </a:lnTo>
                <a:lnTo>
                  <a:pt x="553113" y="228100"/>
                </a:lnTo>
                <a:lnTo>
                  <a:pt x="553113" y="501820"/>
                </a:lnTo>
                <a:lnTo>
                  <a:pt x="316065" y="638680"/>
                </a:lnTo>
                <a:lnTo>
                  <a:pt x="79016" y="501820"/>
                </a:lnTo>
                <a:lnTo>
                  <a:pt x="79016" y="228100"/>
                </a:lnTo>
                <a:lnTo>
                  <a:pt x="316065" y="91240"/>
                </a:lnTo>
                <a:close/>
              </a:path>
            </a:pathLst>
          </a:custGeom>
          <a:solidFill>
            <a:srgbClr val="F5F4ED"/>
          </a:solidFill>
          <a:ln/>
        </p:spPr>
      </p:sp>
      <p:sp>
        <p:nvSpPr>
          <p:cNvPr id="31" name="Shape 24"/>
          <p:cNvSpPr/>
          <p:nvPr/>
        </p:nvSpPr>
        <p:spPr>
          <a:xfrm>
            <a:off x="6707546" y="1682553"/>
            <a:ext cx="158033" cy="182480"/>
          </a:xfrm>
          <a:custGeom>
            <a:avLst/>
            <a:gdLst/>
            <a:ahLst/>
            <a:cxnLst/>
            <a:rect l="l" t="t" r="r" b="b"/>
            <a:pathLst>
              <a:path w="158033" h="182480">
                <a:moveTo>
                  <a:pt x="79016" y="0"/>
                </a:moveTo>
                <a:lnTo>
                  <a:pt x="0" y="45620"/>
                </a:lnTo>
                <a:lnTo>
                  <a:pt x="0" y="136860"/>
                </a:lnTo>
                <a:lnTo>
                  <a:pt x="79016" y="182480"/>
                </a:lnTo>
                <a:lnTo>
                  <a:pt x="158033" y="136860"/>
                </a:lnTo>
                <a:lnTo>
                  <a:pt x="158033" y="45620"/>
                </a:lnTo>
                <a:lnTo>
                  <a:pt x="79016" y="0"/>
                </a:lnTo>
              </a:path>
            </a:pathLst>
          </a:cu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628530" y="1591313"/>
            <a:ext cx="316065" cy="364960"/>
          </a:xfrm>
          <a:custGeom>
            <a:avLst/>
            <a:gdLst/>
            <a:ahLst/>
            <a:cxnLst/>
            <a:rect l="l" t="t" r="r" b="b"/>
            <a:pathLst>
              <a:path w="316065" h="364960">
                <a:moveTo>
                  <a:pt x="158033" y="0"/>
                </a:moveTo>
                <a:lnTo>
                  <a:pt x="0" y="91240"/>
                </a:lnTo>
                <a:lnTo>
                  <a:pt x="0" y="273720"/>
                </a:lnTo>
                <a:lnTo>
                  <a:pt x="158033" y="364960"/>
                </a:lnTo>
                <a:lnTo>
                  <a:pt x="316065" y="273720"/>
                </a:lnTo>
                <a:lnTo>
                  <a:pt x="316065" y="91240"/>
                </a:lnTo>
                <a:lnTo>
                  <a:pt x="158033" y="0"/>
                </a:lnTo>
              </a:path>
            </a:pathLst>
          </a:cu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49514" y="1500073"/>
            <a:ext cx="474096" cy="547440"/>
          </a:xfrm>
          <a:custGeom>
            <a:avLst/>
            <a:gdLst/>
            <a:ahLst/>
            <a:cxnLst/>
            <a:rect l="l" t="t" r="r" b="b"/>
            <a:pathLst>
              <a:path w="474096" h="547440">
                <a:moveTo>
                  <a:pt x="237048" y="0"/>
                </a:moveTo>
                <a:lnTo>
                  <a:pt x="0" y="136860"/>
                </a:lnTo>
                <a:lnTo>
                  <a:pt x="0" y="410580"/>
                </a:lnTo>
                <a:lnTo>
                  <a:pt x="237048" y="547440"/>
                </a:lnTo>
                <a:lnTo>
                  <a:pt x="474096" y="410580"/>
                </a:lnTo>
                <a:lnTo>
                  <a:pt x="474096" y="136860"/>
                </a:lnTo>
                <a:lnTo>
                  <a:pt x="237048" y="0"/>
                </a:lnTo>
              </a:path>
            </a:pathLst>
          </a:cu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470498" y="1408833"/>
            <a:ext cx="632129" cy="729920"/>
          </a:xfrm>
          <a:custGeom>
            <a:avLst/>
            <a:gdLst/>
            <a:ahLst/>
            <a:cxnLst/>
            <a:rect l="l" t="t" r="r" b="b"/>
            <a:pathLst>
              <a:path w="632129" h="729920">
                <a:moveTo>
                  <a:pt x="316065" y="0"/>
                </a:moveTo>
                <a:lnTo>
                  <a:pt x="0" y="182480"/>
                </a:lnTo>
                <a:lnTo>
                  <a:pt x="0" y="547440"/>
                </a:lnTo>
                <a:lnTo>
                  <a:pt x="316065" y="729920"/>
                </a:lnTo>
                <a:lnTo>
                  <a:pt x="632129" y="547440"/>
                </a:lnTo>
                <a:lnTo>
                  <a:pt x="632129" y="182480"/>
                </a:lnTo>
                <a:lnTo>
                  <a:pt x="316065" y="0"/>
                </a:lnTo>
              </a:path>
            </a:pathLst>
          </a:cu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91482" y="1317593"/>
            <a:ext cx="790162" cy="912400"/>
          </a:xfrm>
          <a:custGeom>
            <a:avLst/>
            <a:gdLst/>
            <a:ahLst/>
            <a:cxnLst/>
            <a:rect l="l" t="t" r="r" b="b"/>
            <a:pathLst>
              <a:path w="790162" h="912400">
                <a:moveTo>
                  <a:pt x="395081" y="0"/>
                </a:moveTo>
                <a:lnTo>
                  <a:pt x="0" y="228100"/>
                </a:lnTo>
                <a:lnTo>
                  <a:pt x="0" y="684300"/>
                </a:lnTo>
                <a:lnTo>
                  <a:pt x="395081" y="912400"/>
                </a:lnTo>
                <a:lnTo>
                  <a:pt x="790162" y="684300"/>
                </a:lnTo>
                <a:lnTo>
                  <a:pt x="790162" y="228100"/>
                </a:lnTo>
                <a:lnTo>
                  <a:pt x="395081" y="0"/>
                </a:lnTo>
              </a:path>
            </a:pathLst>
          </a:cu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 flipV="1">
            <a:off x="6790134" y="1317593"/>
            <a:ext cx="0" cy="4562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443" y="1092565"/>
            <a:ext cx="772239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学业GPA</a:t>
            </a:r>
            <a:endParaRPr lang="en-US" sz="619" dirty="0"/>
          </a:p>
        </p:txBody>
      </p:sp>
      <p:sp>
        <p:nvSpPr>
          <p:cNvPr id="38" name="Shape 31"/>
          <p:cNvSpPr/>
          <p:nvPr/>
        </p:nvSpPr>
        <p:spPr>
          <a:xfrm flipH="1" flipV="1">
            <a:off x="6391482" y="1545693"/>
            <a:ext cx="395081" cy="2281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644314" y="1413534"/>
            <a:ext cx="654368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专业排名</a:t>
            </a:r>
            <a:endParaRPr lang="en-US" sz="619" dirty="0"/>
          </a:p>
        </p:txBody>
      </p:sp>
      <p:sp>
        <p:nvSpPr>
          <p:cNvPr id="40" name="Shape 33"/>
          <p:cNvSpPr/>
          <p:nvPr/>
        </p:nvSpPr>
        <p:spPr>
          <a:xfrm flipH="1">
            <a:off x="6391482" y="1773793"/>
            <a:ext cx="395081" cy="2281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644314" y="1976890"/>
            <a:ext cx="654368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英语能力</a:t>
            </a:r>
            <a:endParaRPr lang="en-US" sz="619" dirty="0"/>
          </a:p>
        </p:txBody>
      </p:sp>
      <p:sp>
        <p:nvSpPr>
          <p:cNvPr id="42" name="Shape 35"/>
          <p:cNvSpPr/>
          <p:nvPr/>
        </p:nvSpPr>
        <p:spPr>
          <a:xfrm>
            <a:off x="6790134" y="1773793"/>
            <a:ext cx="0" cy="4562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6459379" y="2297859"/>
            <a:ext cx="654368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科研产出</a:t>
            </a:r>
            <a:endParaRPr lang="en-US" sz="619" dirty="0"/>
          </a:p>
        </p:txBody>
      </p:sp>
      <p:sp>
        <p:nvSpPr>
          <p:cNvPr id="44" name="Shape 37"/>
          <p:cNvSpPr/>
          <p:nvPr/>
        </p:nvSpPr>
        <p:spPr>
          <a:xfrm>
            <a:off x="6786562" y="1773793"/>
            <a:ext cx="395081" cy="2281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7274443" y="1976890"/>
            <a:ext cx="654368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竞赛荣誉</a:t>
            </a:r>
            <a:endParaRPr lang="en-US" sz="619" dirty="0"/>
          </a:p>
        </p:txBody>
      </p:sp>
      <p:sp>
        <p:nvSpPr>
          <p:cNvPr id="46" name="Shape 39"/>
          <p:cNvSpPr/>
          <p:nvPr/>
        </p:nvSpPr>
        <p:spPr>
          <a:xfrm flipV="1">
            <a:off x="6786562" y="1545693"/>
            <a:ext cx="395081" cy="22810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274443" y="1413534"/>
            <a:ext cx="654368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工程实践</a:t>
            </a:r>
            <a:endParaRPr lang="en-US" sz="619" dirty="0"/>
          </a:p>
        </p:txBody>
      </p:sp>
      <p:sp>
        <p:nvSpPr>
          <p:cNvPr id="48" name="Shape 41"/>
          <p:cNvSpPr/>
          <p:nvPr/>
        </p:nvSpPr>
        <p:spPr>
          <a:xfrm>
            <a:off x="6427039" y="1349527"/>
            <a:ext cx="707195" cy="812036"/>
          </a:xfrm>
          <a:custGeom>
            <a:avLst/>
            <a:gdLst/>
            <a:ahLst/>
            <a:cxnLst/>
            <a:rect l="l" t="t" r="r" b="b"/>
            <a:pathLst>
              <a:path w="707195" h="812036">
                <a:moveTo>
                  <a:pt x="359524" y="0"/>
                </a:moveTo>
                <a:lnTo>
                  <a:pt x="0" y="216695"/>
                </a:lnTo>
                <a:lnTo>
                  <a:pt x="3951" y="629556"/>
                </a:lnTo>
                <a:lnTo>
                  <a:pt x="359524" y="812036"/>
                </a:lnTo>
                <a:lnTo>
                  <a:pt x="683490" y="611308"/>
                </a:lnTo>
                <a:lnTo>
                  <a:pt x="707195" y="223538"/>
                </a:lnTo>
                <a:lnTo>
                  <a:pt x="359524" y="0"/>
                </a:lnTo>
              </a:path>
            </a:pathLst>
          </a:custGeom>
          <a:noFill/>
          <a:ln w="12700">
            <a:solidFill>
              <a:srgbClr val="C96442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6427039" y="1349527"/>
            <a:ext cx="707195" cy="812036"/>
          </a:xfrm>
          <a:custGeom>
            <a:avLst/>
            <a:gdLst/>
            <a:ahLst/>
            <a:cxnLst/>
            <a:rect l="l" t="t" r="r" b="b"/>
            <a:pathLst>
              <a:path w="707195" h="812036">
                <a:moveTo>
                  <a:pt x="359524" y="0"/>
                </a:moveTo>
                <a:lnTo>
                  <a:pt x="0" y="216695"/>
                </a:lnTo>
                <a:lnTo>
                  <a:pt x="3951" y="629556"/>
                </a:lnTo>
                <a:lnTo>
                  <a:pt x="359524" y="812036"/>
                </a:lnTo>
                <a:lnTo>
                  <a:pt x="683490" y="611308"/>
                </a:lnTo>
                <a:lnTo>
                  <a:pt x="707195" y="223538"/>
                </a:lnTo>
                <a:lnTo>
                  <a:pt x="359524" y="0"/>
                </a:lnTo>
                <a:close/>
              </a:path>
            </a:pathLst>
          </a:custGeom>
          <a:solidFill>
            <a:srgbClr val="C96442">
              <a:alpha val="105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6757987" y="1320952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1" name="Shape 44"/>
          <p:cNvSpPr/>
          <p:nvPr/>
        </p:nvSpPr>
        <p:spPr>
          <a:xfrm>
            <a:off x="6398464" y="1537647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2" name="Shape 45"/>
          <p:cNvSpPr/>
          <p:nvPr/>
        </p:nvSpPr>
        <p:spPr>
          <a:xfrm>
            <a:off x="6402415" y="1950508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3" name="Shape 46"/>
          <p:cNvSpPr/>
          <p:nvPr/>
        </p:nvSpPr>
        <p:spPr>
          <a:xfrm>
            <a:off x="6757987" y="2132988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4" name="Shape 47"/>
          <p:cNvSpPr/>
          <p:nvPr/>
        </p:nvSpPr>
        <p:spPr>
          <a:xfrm>
            <a:off x="7081954" y="1932260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5" name="Shape 48"/>
          <p:cNvSpPr/>
          <p:nvPr/>
        </p:nvSpPr>
        <p:spPr>
          <a:xfrm>
            <a:off x="7105659" y="1544490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6" name="Shape 49"/>
          <p:cNvSpPr/>
          <p:nvPr/>
        </p:nvSpPr>
        <p:spPr>
          <a:xfrm>
            <a:off x="214313" y="2671763"/>
            <a:ext cx="8715375" cy="2043113"/>
          </a:xfrm>
          <a:prstGeom prst="roundRect">
            <a:avLst>
              <a:gd name="adj" fmla="val 1252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75" y="2818209"/>
            <a:ext cx="71438" cy="71438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455526" y="2786063"/>
            <a:ext cx="8001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荣誉与竞赛奖项</a:t>
            </a:r>
            <a:endParaRPr lang="en-US" sz="900" dirty="0"/>
          </a:p>
        </p:txBody>
      </p:sp>
      <p:sp>
        <p:nvSpPr>
          <p:cNvPr id="59" name="Shape 51"/>
          <p:cNvSpPr/>
          <p:nvPr/>
        </p:nvSpPr>
        <p:spPr>
          <a:xfrm>
            <a:off x="329785" y="2993231"/>
            <a:ext cx="2778919" cy="778669"/>
          </a:xfrm>
          <a:prstGeom prst="roundRect">
            <a:avLst>
              <a:gd name="adj" fmla="val 8619"/>
            </a:avLst>
          </a:prstGeom>
          <a:solidFill>
            <a:srgbClr val="C96442"/>
          </a:solidFill>
          <a:ln/>
        </p:spPr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896" y="3111103"/>
            <a:ext cx="78581" cy="78581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580374" y="3093244"/>
            <a:ext cx="992981" cy="1214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国家级大创 优秀结项</a:t>
            </a:r>
            <a:endParaRPr lang="en-US" sz="800" dirty="0"/>
          </a:p>
        </p:txBody>
      </p:sp>
      <p:sp>
        <p:nvSpPr>
          <p:cNvPr id="62" name="Text 53"/>
          <p:cNvSpPr/>
          <p:nvPr/>
        </p:nvSpPr>
        <p:spPr>
          <a:xfrm>
            <a:off x="580374" y="3236119"/>
            <a:ext cx="99298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ICU智能决策辅助系统</a:t>
            </a:r>
            <a:endParaRPr lang="en-US" sz="600" dirty="0"/>
          </a:p>
        </p:txBody>
      </p:sp>
      <p:sp>
        <p:nvSpPr>
          <p:cNvPr id="63" name="Shape 54"/>
          <p:cNvSpPr/>
          <p:nvPr/>
        </p:nvSpPr>
        <p:spPr>
          <a:xfrm>
            <a:off x="3182485" y="2993231"/>
            <a:ext cx="2778919" cy="778669"/>
          </a:xfrm>
          <a:prstGeom prst="roundRect">
            <a:avLst>
              <a:gd name="adj" fmla="val 8619"/>
            </a:avLst>
          </a:prstGeom>
          <a:solidFill>
            <a:srgbClr val="F5F4ED"/>
          </a:solidFill>
          <a:ln/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6201" y="3107531"/>
            <a:ext cx="71438" cy="71438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3421187" y="3093244"/>
            <a:ext cx="864394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传智杯 国家级三等奖</a:t>
            </a:r>
            <a:endParaRPr lang="en-US" sz="700" dirty="0"/>
          </a:p>
        </p:txBody>
      </p:sp>
      <p:sp>
        <p:nvSpPr>
          <p:cNvPr id="66" name="Text 56"/>
          <p:cNvSpPr/>
          <p:nvPr/>
        </p:nvSpPr>
        <p:spPr>
          <a:xfrm>
            <a:off x="3421187" y="3221831"/>
            <a:ext cx="864394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编程竞赛</a:t>
            </a:r>
            <a:endParaRPr lang="en-US" sz="600" dirty="0"/>
          </a:p>
        </p:txBody>
      </p:sp>
      <p:sp>
        <p:nvSpPr>
          <p:cNvPr id="67" name="Shape 57"/>
          <p:cNvSpPr/>
          <p:nvPr/>
        </p:nvSpPr>
        <p:spPr>
          <a:xfrm>
            <a:off x="6035241" y="2993231"/>
            <a:ext cx="2778919" cy="778669"/>
          </a:xfrm>
          <a:prstGeom prst="roundRect">
            <a:avLst>
              <a:gd name="adj" fmla="val 8619"/>
            </a:avLst>
          </a:prstGeom>
          <a:solidFill>
            <a:srgbClr val="F5F4ED"/>
          </a:solidFill>
          <a:ln/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8901" y="3107531"/>
            <a:ext cx="71438" cy="71438"/>
          </a:xfrm>
          <a:prstGeom prst="rect">
            <a:avLst/>
          </a:prstGeom>
        </p:spPr>
      </p:pic>
      <p:sp>
        <p:nvSpPr>
          <p:cNvPr id="69" name="Text 58"/>
          <p:cNvSpPr/>
          <p:nvPr/>
        </p:nvSpPr>
        <p:spPr>
          <a:xfrm>
            <a:off x="6274668" y="3093244"/>
            <a:ext cx="7286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华为CANN训练营</a:t>
            </a:r>
            <a:endParaRPr lang="en-US" sz="700" dirty="0"/>
          </a:p>
        </p:txBody>
      </p:sp>
      <p:sp>
        <p:nvSpPr>
          <p:cNvPr id="70" name="Text 59"/>
          <p:cNvSpPr/>
          <p:nvPr/>
        </p:nvSpPr>
        <p:spPr>
          <a:xfrm>
            <a:off x="6274668" y="3221831"/>
            <a:ext cx="7286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优秀营员</a:t>
            </a:r>
            <a:endParaRPr lang="en-US" sz="600" dirty="0"/>
          </a:p>
        </p:txBody>
      </p:sp>
      <p:sp>
        <p:nvSpPr>
          <p:cNvPr id="71" name="Shape 60"/>
          <p:cNvSpPr/>
          <p:nvPr/>
        </p:nvSpPr>
        <p:spPr>
          <a:xfrm>
            <a:off x="329785" y="3843338"/>
            <a:ext cx="2778919" cy="757237"/>
          </a:xfrm>
          <a:prstGeom prst="roundRect">
            <a:avLst>
              <a:gd name="adj" fmla="val 9114"/>
            </a:avLst>
          </a:prstGeom>
          <a:solidFill>
            <a:srgbClr val="F5F4ED"/>
          </a:solidFill>
          <a:ln/>
        </p:spPr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500" y="3957638"/>
            <a:ext cx="71438" cy="71438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568486" y="3943350"/>
            <a:ext cx="77152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蓝桥杯 省级二等奖</a:t>
            </a:r>
            <a:endParaRPr lang="en-US" sz="700" dirty="0"/>
          </a:p>
        </p:txBody>
      </p:sp>
      <p:sp>
        <p:nvSpPr>
          <p:cNvPr id="74" name="Text 62"/>
          <p:cNvSpPr/>
          <p:nvPr/>
        </p:nvSpPr>
        <p:spPr>
          <a:xfrm>
            <a:off x="568486" y="4071938"/>
            <a:ext cx="77152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编程竞赛</a:t>
            </a:r>
            <a:endParaRPr lang="en-US" sz="600" dirty="0"/>
          </a:p>
        </p:txBody>
      </p:sp>
      <p:sp>
        <p:nvSpPr>
          <p:cNvPr id="75" name="Shape 63"/>
          <p:cNvSpPr/>
          <p:nvPr/>
        </p:nvSpPr>
        <p:spPr>
          <a:xfrm>
            <a:off x="3182485" y="3843338"/>
            <a:ext cx="2778919" cy="757237"/>
          </a:xfrm>
          <a:prstGeom prst="roundRect">
            <a:avLst>
              <a:gd name="adj" fmla="val 9114"/>
            </a:avLst>
          </a:prstGeom>
          <a:solidFill>
            <a:srgbClr val="F5F4ED"/>
          </a:solidFill>
          <a:ln/>
        </p:spPr>
      </p:sp>
      <p:pic>
        <p:nvPicPr>
          <p:cNvPr id="7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6201" y="3957638"/>
            <a:ext cx="71438" cy="71438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3421187" y="3943350"/>
            <a:ext cx="58578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市级大创 结项</a:t>
            </a:r>
            <a:endParaRPr lang="en-US" sz="700" dirty="0"/>
          </a:p>
        </p:txBody>
      </p:sp>
      <p:sp>
        <p:nvSpPr>
          <p:cNvPr id="78" name="Text 65"/>
          <p:cNvSpPr/>
          <p:nvPr/>
        </p:nvSpPr>
        <p:spPr>
          <a:xfrm>
            <a:off x="3421187" y="4071938"/>
            <a:ext cx="58578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诗舟小程序</a:t>
            </a:r>
            <a:endParaRPr lang="en-US" sz="600" dirty="0"/>
          </a:p>
        </p:txBody>
      </p:sp>
      <p:sp>
        <p:nvSpPr>
          <p:cNvPr id="79" name="Shape 66"/>
          <p:cNvSpPr/>
          <p:nvPr/>
        </p:nvSpPr>
        <p:spPr>
          <a:xfrm>
            <a:off x="6035241" y="3843338"/>
            <a:ext cx="2778919" cy="757237"/>
          </a:xfrm>
          <a:prstGeom prst="roundRect">
            <a:avLst>
              <a:gd name="adj" fmla="val 9114"/>
            </a:avLst>
          </a:prstGeom>
          <a:solidFill>
            <a:srgbClr val="F5F4ED"/>
          </a:solidFill>
          <a:ln/>
        </p:spPr>
      </p:sp>
      <p:pic>
        <p:nvPicPr>
          <p:cNvPr id="8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8901" y="3957638"/>
            <a:ext cx="71438" cy="71438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6273887" y="3943350"/>
            <a:ext cx="58578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校级大创 结项</a:t>
            </a:r>
            <a:endParaRPr lang="en-US" sz="700" dirty="0"/>
          </a:p>
        </p:txBody>
      </p:sp>
      <p:sp>
        <p:nvSpPr>
          <p:cNvPr id="82" name="Text 68"/>
          <p:cNvSpPr/>
          <p:nvPr/>
        </p:nvSpPr>
        <p:spPr>
          <a:xfrm>
            <a:off x="6273943" y="4071938"/>
            <a:ext cx="7143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EQ_Master鸿蒙应用</a:t>
            </a:r>
            <a:endParaRPr lang="en-US" sz="600" dirty="0"/>
          </a:p>
        </p:txBody>
      </p:sp>
      <p:sp>
        <p:nvSpPr>
          <p:cNvPr id="83" name="Shape 69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84" name="Text 70"/>
          <p:cNvSpPr/>
          <p:nvPr/>
        </p:nvSpPr>
        <p:spPr>
          <a:xfrm>
            <a:off x="213922" y="4775597"/>
            <a:ext cx="778669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华东师范大学 · 软件工程</a:t>
            </a:r>
            <a:endParaRPr lang="en-US" sz="500" dirty="0"/>
          </a:p>
        </p:txBody>
      </p:sp>
      <p:sp>
        <p:nvSpPr>
          <p:cNvPr id="85" name="Text 71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/ 12</a:t>
            </a:r>
            <a:endParaRPr lang="en-US" sz="500" dirty="0"/>
          </a:p>
        </p:txBody>
      </p:sp>
      <p:pic>
        <p:nvPicPr>
          <p:cNvPr id="86" name="Image 12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4536" y="271407"/>
            <a:ext cx="3450431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ICU智能决策辅助系统 — 国家级大创优秀结项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536" y="477850"/>
            <a:ext cx="3450431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Algorithm Core Developer · Based on ICLR'24 GraphCare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699195"/>
            <a:ext cx="4300538" cy="2286000"/>
          </a:xfrm>
          <a:prstGeom prst="roundRect">
            <a:avLst>
              <a:gd name="adj" fmla="val 100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25" y="1493937"/>
            <a:ext cx="92869" cy="92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4081" y="1461790"/>
            <a:ext cx="514350" cy="157163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项目描述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7188" y="1674316"/>
            <a:ext cx="4014788" cy="550069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面向ICU医疗辅助决策场景，基于MIMIC-III电子病历构建高可解释性图神经网络系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统。实现多标签药物推荐与心源性休克风险联合预测，并支持医生通过自然语言反馈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动态干预图推理过程。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29150" y="699195"/>
            <a:ext cx="4300538" cy="2286000"/>
          </a:xfrm>
          <a:prstGeom prst="roundRect">
            <a:avLst>
              <a:gd name="adj" fmla="val 1000"/>
            </a:avLst>
          </a:prstGeom>
          <a:solidFill>
            <a:srgbClr val="14141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462" y="1493937"/>
            <a:ext cx="92869" cy="928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18918" y="1461790"/>
            <a:ext cx="514350" cy="157163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项目挑战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72025" y="1674316"/>
            <a:ext cx="4014788" cy="550069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患者体征数据极其复杂且存在严重类别不平衡，传统预测模型缺乏可解释性，医生难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以进行人工干预和建立信任。需要开发既能精准联合预测，又能打破"模型黑盒"的高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可解释性系统。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14313" y="3099495"/>
            <a:ext cx="2828925" cy="1235869"/>
          </a:xfrm>
          <a:prstGeom prst="roundRect">
            <a:avLst>
              <a:gd name="adj" fmla="val 3421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8612" y="3212902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38" y="3291483"/>
            <a:ext cx="71438" cy="714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363" y="3266480"/>
            <a:ext cx="750094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算法重构与优化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28613" y="3497200"/>
            <a:ext cx="26003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自主设计</a:t>
            </a:r>
            <a:pPr algn="l" indent="0" marL="0">
              <a:buNone/>
            </a:pPr>
            <a:r>
              <a:rPr lang="en-US" sz="7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边稀疏化模块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，结合Top-K掩码动态修剪非关键图连接，大幅降低图神经网络的计算复杂度。</a:t>
            </a:r>
            <a:endParaRPr lang="en-US" sz="7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57" y="3870796"/>
            <a:ext cx="50006" cy="500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7052" y="3838649"/>
            <a:ext cx="1235869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EdgeScorer打分 → Top-K硬掩码</a:t>
            </a:r>
            <a:endParaRPr lang="en-US" sz="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557" y="4013671"/>
            <a:ext cx="50006" cy="500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6941" y="3981524"/>
            <a:ext cx="8643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辅助Loss保证梯度流动</a:t>
            </a:r>
            <a:endParaRPr lang="en-US" sz="600" dirty="0"/>
          </a:p>
        </p:txBody>
      </p:sp>
      <p:sp>
        <p:nvSpPr>
          <p:cNvPr id="24" name="Text 17"/>
          <p:cNvSpPr/>
          <p:nvPr/>
        </p:nvSpPr>
        <p:spPr>
          <a:xfrm>
            <a:off x="328613" y="4125795"/>
            <a:ext cx="2600325" cy="242888"/>
          </a:xfrm>
          <a:prstGeom prst="roundRect">
            <a:avLst>
              <a:gd name="adj" fmla="val 16609"/>
            </a:avLst>
          </a:prstGeom>
          <a:solidFill>
            <a:srgbClr val="F5F4ED"/>
          </a:solidFill>
          <a:ln/>
        </p:spPr>
        <p:txBody>
          <a:bodyPr wrap="none" lIns="48578" tIns="48578" rIns="48578" bIns="48578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被丢弃的边可通过辅助Loss"复活"，兼顾稀疏性与动态探索</a:t>
            </a:r>
            <a:endParaRPr lang="en-US" sz="600" dirty="0"/>
          </a:p>
        </p:txBody>
      </p:sp>
      <p:sp>
        <p:nvSpPr>
          <p:cNvPr id="25" name="Shape 18"/>
          <p:cNvSpPr/>
          <p:nvPr/>
        </p:nvSpPr>
        <p:spPr>
          <a:xfrm>
            <a:off x="3157538" y="3099495"/>
            <a:ext cx="2828925" cy="1235869"/>
          </a:xfrm>
          <a:prstGeom prst="roundRect">
            <a:avLst>
              <a:gd name="adj" fmla="val 3421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271838" y="3212902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0363" y="3291483"/>
            <a:ext cx="71438" cy="7143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57588" y="3266480"/>
            <a:ext cx="750094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类别不平衡应对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3271838" y="3497200"/>
            <a:ext cx="26003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</a:t>
            </a:r>
            <a:pPr algn="l" indent="0" marL="0">
              <a:buNone/>
            </a:pPr>
            <a:r>
              <a:rPr lang="en-US" sz="7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缓解类别极度不平衡，以</a:t>
            </a:r>
            <a:pPr algn="l" indent="0" marL="0">
              <a:buNone/>
            </a:pPr>
            <a:r>
              <a:rPr lang="en-US" sz="7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为核心评估指标，确保模型对罕见药物和高危休克风险的识别能力。</a:t>
            </a:r>
            <a:endParaRPr lang="en-US" sz="7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1782" y="3870796"/>
            <a:ext cx="50006" cy="500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377766" y="3838649"/>
            <a:ext cx="82867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γ=2动态聚焦难分样本</a:t>
            </a:r>
            <a:endParaRPr lang="en-US" sz="6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1782" y="4013671"/>
            <a:ext cx="50006" cy="5000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379998" y="3981524"/>
            <a:ext cx="86439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α=0.25平衡正负类数量</a:t>
            </a:r>
            <a:endParaRPr lang="en-US" sz="600" dirty="0"/>
          </a:p>
        </p:txBody>
      </p:sp>
      <p:sp>
        <p:nvSpPr>
          <p:cNvPr id="34" name="Text 24"/>
          <p:cNvSpPr/>
          <p:nvPr/>
        </p:nvSpPr>
        <p:spPr>
          <a:xfrm>
            <a:off x="3271838" y="4125795"/>
            <a:ext cx="2600325" cy="242888"/>
          </a:xfrm>
          <a:prstGeom prst="roundRect">
            <a:avLst>
              <a:gd name="adj" fmla="val 16609"/>
            </a:avLst>
          </a:prstGeom>
          <a:solidFill>
            <a:srgbClr val="F5F4ED"/>
          </a:solidFill>
          <a:ln/>
        </p:spPr>
        <p:txBody>
          <a:bodyPr wrap="none" lIns="48578" tIns="48578" rIns="48578" bIns="48578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Macro-F1对少数类高度敏感，避免被多数类高频正确率掩盖</a:t>
            </a:r>
            <a:endParaRPr lang="en-US" sz="600" dirty="0"/>
          </a:p>
        </p:txBody>
      </p:sp>
      <p:sp>
        <p:nvSpPr>
          <p:cNvPr id="35" name="Shape 25"/>
          <p:cNvSpPr/>
          <p:nvPr/>
        </p:nvSpPr>
        <p:spPr>
          <a:xfrm>
            <a:off x="6100763" y="3099495"/>
            <a:ext cx="2828925" cy="1235869"/>
          </a:xfrm>
          <a:prstGeom prst="roundRect">
            <a:avLst>
              <a:gd name="adj" fmla="val 3421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215063" y="3212902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3588" y="3291483"/>
            <a:ext cx="71438" cy="7143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500813" y="3266480"/>
            <a:ext cx="750094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大模型反馈闭环</a:t>
            </a:r>
            <a:endParaRPr lang="en-US" sz="800" dirty="0"/>
          </a:p>
        </p:txBody>
      </p:sp>
      <p:sp>
        <p:nvSpPr>
          <p:cNvPr id="39" name="Text 28"/>
          <p:cNvSpPr/>
          <p:nvPr/>
        </p:nvSpPr>
        <p:spPr>
          <a:xfrm>
            <a:off x="6215063" y="3497200"/>
            <a:ext cx="26003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创新性引入</a:t>
            </a:r>
            <a:pPr algn="l" indent="0" marL="0">
              <a:buNone/>
            </a:pPr>
            <a:r>
              <a:rPr lang="en-US" sz="7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大语言模型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构建反馈闭环，调用大模型解析医生自然语言干预指令，动态重构子图并进行二次推理。</a:t>
            </a:r>
            <a:endParaRPr lang="en-US" sz="7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5007" y="3870796"/>
            <a:ext cx="50006" cy="5000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320991" y="3838649"/>
            <a:ext cx="1078706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LLM拆解 → HNSW映射节点</a:t>
            </a:r>
            <a:endParaRPr lang="en-US" sz="6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5007" y="4013671"/>
            <a:ext cx="50006" cy="50006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320935" y="3981524"/>
            <a:ext cx="992981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动态增删子图 → 二次推理</a:t>
            </a:r>
            <a:endParaRPr lang="en-US" sz="600" dirty="0"/>
          </a:p>
        </p:txBody>
      </p:sp>
      <p:sp>
        <p:nvSpPr>
          <p:cNvPr id="44" name="Text 31"/>
          <p:cNvSpPr/>
          <p:nvPr/>
        </p:nvSpPr>
        <p:spPr>
          <a:xfrm>
            <a:off x="6215063" y="4125795"/>
            <a:ext cx="2600325" cy="242888"/>
          </a:xfrm>
          <a:prstGeom prst="roundRect">
            <a:avLst>
              <a:gd name="adj" fmla="val 16609"/>
            </a:avLst>
          </a:prstGeom>
          <a:solidFill>
            <a:srgbClr val="F5F4ED"/>
          </a:solidFill>
          <a:ln/>
        </p:spPr>
        <p:txBody>
          <a:bodyPr wrap="none" lIns="48578" tIns="48578" rIns="48578" bIns="48578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无需重新训练模型，实现交互式响应，增强临床可控性</a:t>
            </a:r>
            <a:endParaRPr lang="en-US" sz="600" dirty="0"/>
          </a:p>
        </p:txBody>
      </p:sp>
      <p:sp>
        <p:nvSpPr>
          <p:cNvPr id="45" name="Shape 32"/>
          <p:cNvSpPr/>
          <p:nvPr/>
        </p:nvSpPr>
        <p:spPr>
          <a:xfrm>
            <a:off x="214313" y="4450556"/>
            <a:ext cx="8715375" cy="264319"/>
          </a:xfrm>
          <a:prstGeom prst="roundRect">
            <a:avLst>
              <a:gd name="adj" fmla="val 18700"/>
            </a:avLst>
          </a:prstGeom>
          <a:solidFill>
            <a:srgbClr val="C96442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775" y="4546997"/>
            <a:ext cx="71438" cy="7143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484491" y="4521994"/>
            <a:ext cx="6057900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成功构建"药物推荐+休克风险"联合推理架构，极大增强模型可控性与临床实用价值。凭借医疗AI落地创新性，成功获批国家级大创项目，结项优秀。</a:t>
            </a:r>
            <a:endParaRPr lang="en-US" sz="700" dirty="0"/>
          </a:p>
        </p:txBody>
      </p:sp>
      <p:sp>
        <p:nvSpPr>
          <p:cNvPr id="48" name="Shape 34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49" name="Text 35"/>
          <p:cNvSpPr/>
          <p:nvPr/>
        </p:nvSpPr>
        <p:spPr>
          <a:xfrm>
            <a:off x="214703" y="4775597"/>
            <a:ext cx="1400175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ICU智能决策辅助系统 · 国家级大创优秀结项</a:t>
            </a:r>
            <a:endParaRPr lang="en-US" sz="500" dirty="0"/>
          </a:p>
        </p:txBody>
      </p:sp>
      <p:sp>
        <p:nvSpPr>
          <p:cNvPr id="50" name="Text 36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/ 12</a:t>
            </a:r>
            <a:endParaRPr lang="en-US" sz="5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4033" y="271407"/>
            <a:ext cx="5457825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自主设计边稀疏化模块：辅助Loss实现被丢弃边的梯度流动与动态"复活"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033" y="477850"/>
            <a:ext cx="545782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Sparsification: Soft Weight + Hard Mask + Auxiliary Loss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700087"/>
            <a:ext cx="4300538" cy="1950244"/>
          </a:xfrm>
          <a:prstGeom prst="roundRect">
            <a:avLst>
              <a:gd name="adj" fmla="val 1374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775" y="846534"/>
            <a:ext cx="71438" cy="71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5023" y="814388"/>
            <a:ext cx="1400175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EdgeScorer + Top-K 硬掩码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8613" y="1545171"/>
            <a:ext cx="171450" cy="1714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1" name="Text 8"/>
          <p:cNvSpPr/>
          <p:nvPr/>
        </p:nvSpPr>
        <p:spPr>
          <a:xfrm>
            <a:off x="392906" y="1588033"/>
            <a:ext cx="42863" cy="857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86736" y="1525972"/>
            <a:ext cx="70008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EdgeScorer 网络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85788" y="1641667"/>
            <a:ext cx="38147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多层感知机，接收源节点、目标节点和边特征，拼接后经 Sigmoid 激活，输出 0~1 重要性分数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328613" y="1826568"/>
            <a:ext cx="171450" cy="1714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5" name="Text 12"/>
          <p:cNvSpPr/>
          <p:nvPr/>
        </p:nvSpPr>
        <p:spPr>
          <a:xfrm>
            <a:off x="392906" y="1869430"/>
            <a:ext cx="42863" cy="8572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84281" y="1807369"/>
            <a:ext cx="457200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筛选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85788" y="1923064"/>
            <a:ext cx="38147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根据稀疏化比例（如保留 Top 10%），用 torch.topk 生成非0即1的硬掩码，降低图计算复杂度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4629150" y="700087"/>
            <a:ext cx="4300538" cy="1950244"/>
          </a:xfrm>
          <a:prstGeom prst="roundRect">
            <a:avLst>
              <a:gd name="adj" fmla="val 1374"/>
            </a:avLst>
          </a:prstGeom>
          <a:solidFill>
            <a:srgbClr val="14141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13" y="846534"/>
            <a:ext cx="71438" cy="714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70196" y="814388"/>
            <a:ext cx="1621631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核心挑战：Hard Mask 梯度截断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43450" y="1007269"/>
            <a:ext cx="4071938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thresh 和 .float() 是不可微操作，梯度会断掉。解决方案分两路：</a:t>
            </a:r>
            <a:endParaRPr lang="en-US" sz="600" dirty="0"/>
          </a:p>
        </p:txBody>
      </p:sp>
      <p:sp>
        <p:nvSpPr>
          <p:cNvPr id="22" name="Shape 18"/>
          <p:cNvSpPr/>
          <p:nvPr/>
        </p:nvSpPr>
        <p:spPr>
          <a:xfrm>
            <a:off x="4743450" y="1194402"/>
            <a:ext cx="4071938" cy="392906"/>
          </a:xfrm>
          <a:prstGeom prst="roundRect">
            <a:avLst>
              <a:gd name="adj" fmla="val 6347"/>
            </a:avLst>
          </a:prstGeom>
          <a:solidFill>
            <a:srgbClr val="30302E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715" y="1293019"/>
            <a:ext cx="57150" cy="571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928127" y="1264444"/>
            <a:ext cx="900113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被保留的边（Mask=1）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4814888" y="1408714"/>
            <a:ext cx="39290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软得分与硬掩码相乘 edge_weights = edge_scores × mask，梯度通过 edge_scores 顺畅回传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4743450" y="1647248"/>
            <a:ext cx="4071938" cy="392906"/>
          </a:xfrm>
          <a:prstGeom prst="roundRect">
            <a:avLst>
              <a:gd name="adj" fmla="val 6347"/>
            </a:avLst>
          </a:prstGeom>
          <a:solidFill>
            <a:srgbClr val="30302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715" y="1745866"/>
            <a:ext cx="57150" cy="571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28127" y="1717291"/>
            <a:ext cx="900113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被丢弃的边（Mask=0）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4814888" y="1861561"/>
            <a:ext cx="39290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引入辅助稀疏化损失维持梯度流动（见下方）</a:t>
            </a:r>
            <a:endParaRPr lang="en-US" sz="600" dirty="0"/>
          </a:p>
        </p:txBody>
      </p:sp>
      <p:sp>
        <p:nvSpPr>
          <p:cNvPr id="30" name="Shape 24"/>
          <p:cNvSpPr/>
          <p:nvPr/>
        </p:nvSpPr>
        <p:spPr>
          <a:xfrm>
            <a:off x="214313" y="2764631"/>
            <a:ext cx="2828925" cy="1950244"/>
          </a:xfrm>
          <a:prstGeom prst="roundRect">
            <a:avLst>
              <a:gd name="adj" fmla="val 1374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883" y="2893219"/>
            <a:ext cx="78581" cy="7858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2568" y="2864644"/>
            <a:ext cx="714375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稀疏性惩罚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14325" y="3042456"/>
            <a:ext cx="2628900" cy="3214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mean(edge_scores)，全局压低所有边得分，为被丢弃边提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供梯度信号。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314325" y="3420294"/>
            <a:ext cx="2628900" cy="642938"/>
          </a:xfrm>
          <a:prstGeom prst="roundRect">
            <a:avLst>
              <a:gd name="adj" fmla="val 2370"/>
            </a:avLst>
          </a:prstGeom>
          <a:solidFill>
            <a:srgbClr val="F5F4ED"/>
          </a:solidFill>
          <a:ln/>
        </p:spPr>
      </p:sp>
      <p:sp>
        <p:nvSpPr>
          <p:cNvPr id="35" name="Shape 28"/>
          <p:cNvSpPr/>
          <p:nvPr/>
        </p:nvSpPr>
        <p:spPr>
          <a:xfrm>
            <a:off x="1017426" y="3577456"/>
            <a:ext cx="400050" cy="0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17426" y="3577456"/>
            <a:ext cx="400050" cy="164306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17426" y="3577456"/>
            <a:ext cx="400050" cy="328613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 flipV="1">
            <a:off x="1017426" y="3577456"/>
            <a:ext cx="400050" cy="164306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17426" y="3741762"/>
            <a:ext cx="400050" cy="0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1017426" y="3741762"/>
            <a:ext cx="400050" cy="164306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 flipV="1">
            <a:off x="1017426" y="3577456"/>
            <a:ext cx="400050" cy="328613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 flipV="1">
            <a:off x="1017426" y="3741762"/>
            <a:ext cx="400050" cy="164306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17426" y="3906069"/>
            <a:ext cx="400050" cy="0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88851" y="3548881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5" name="Shape 38"/>
          <p:cNvSpPr/>
          <p:nvPr/>
        </p:nvSpPr>
        <p:spPr>
          <a:xfrm>
            <a:off x="988851" y="3713187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6" name="Shape 39"/>
          <p:cNvSpPr/>
          <p:nvPr/>
        </p:nvSpPr>
        <p:spPr>
          <a:xfrm>
            <a:off x="988851" y="3877494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7" name="Shape 40"/>
          <p:cNvSpPr/>
          <p:nvPr/>
        </p:nvSpPr>
        <p:spPr>
          <a:xfrm>
            <a:off x="1388901" y="3548881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8" name="Shape 41"/>
          <p:cNvSpPr/>
          <p:nvPr/>
        </p:nvSpPr>
        <p:spPr>
          <a:xfrm>
            <a:off x="1388901" y="3713187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49" name="Shape 42"/>
          <p:cNvSpPr/>
          <p:nvPr/>
        </p:nvSpPr>
        <p:spPr>
          <a:xfrm>
            <a:off x="1388901" y="3877494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484" y="3702472"/>
            <a:ext cx="78581" cy="78581"/>
          </a:xfrm>
          <a:prstGeom prst="rect">
            <a:avLst/>
          </a:prstGeom>
        </p:spPr>
      </p:pic>
      <p:sp>
        <p:nvSpPr>
          <p:cNvPr id="51" name="Shape 43"/>
          <p:cNvSpPr/>
          <p:nvPr/>
        </p:nvSpPr>
        <p:spPr>
          <a:xfrm>
            <a:off x="1840074" y="3577456"/>
            <a:ext cx="400050" cy="164306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 flipV="1">
            <a:off x="1840074" y="3577456"/>
            <a:ext cx="400050" cy="164306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1840074" y="3906069"/>
            <a:ext cx="400050" cy="0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1811499" y="3548881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5" name="Shape 47"/>
          <p:cNvSpPr/>
          <p:nvPr/>
        </p:nvSpPr>
        <p:spPr>
          <a:xfrm>
            <a:off x="1811499" y="3713187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6" name="Shape 48"/>
          <p:cNvSpPr/>
          <p:nvPr/>
        </p:nvSpPr>
        <p:spPr>
          <a:xfrm>
            <a:off x="1811499" y="3877494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7" name="Shape 49"/>
          <p:cNvSpPr/>
          <p:nvPr/>
        </p:nvSpPr>
        <p:spPr>
          <a:xfrm>
            <a:off x="2211549" y="3548881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8" name="Shape 50"/>
          <p:cNvSpPr/>
          <p:nvPr/>
        </p:nvSpPr>
        <p:spPr>
          <a:xfrm>
            <a:off x="2211549" y="3713187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9" name="Shape 51"/>
          <p:cNvSpPr/>
          <p:nvPr/>
        </p:nvSpPr>
        <p:spPr>
          <a:xfrm>
            <a:off x="2211549" y="3877494"/>
            <a:ext cx="57150" cy="5715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0" name="Shape 52"/>
          <p:cNvSpPr/>
          <p:nvPr/>
        </p:nvSpPr>
        <p:spPr>
          <a:xfrm>
            <a:off x="3157538" y="2764631"/>
            <a:ext cx="2828925" cy="1950244"/>
          </a:xfrm>
          <a:prstGeom prst="roundRect">
            <a:avLst>
              <a:gd name="adj" fmla="val 1374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108" y="2893219"/>
            <a:ext cx="78581" cy="78581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3394397" y="2864644"/>
            <a:ext cx="8001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连通性保持惩罚</a:t>
            </a:r>
            <a:endParaRPr lang="en-US" sz="900" dirty="0"/>
          </a:p>
        </p:txBody>
      </p:sp>
      <p:sp>
        <p:nvSpPr>
          <p:cNvPr id="63" name="Text 54"/>
          <p:cNvSpPr/>
          <p:nvPr/>
        </p:nvSpPr>
        <p:spPr>
          <a:xfrm>
            <a:off x="3257550" y="3042456"/>
            <a:ext cx="2628900" cy="3214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每个节点边权重之和低于阈值则惩罚，保证图连通性不被破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坏。</a:t>
            </a:r>
            <a:endParaRPr lang="en-US" sz="700" dirty="0"/>
          </a:p>
        </p:txBody>
      </p:sp>
      <p:sp>
        <p:nvSpPr>
          <p:cNvPr id="64" name="Shape 55"/>
          <p:cNvSpPr/>
          <p:nvPr/>
        </p:nvSpPr>
        <p:spPr>
          <a:xfrm>
            <a:off x="3257550" y="3420294"/>
            <a:ext cx="2628900" cy="678656"/>
          </a:xfrm>
          <a:prstGeom prst="roundRect">
            <a:avLst>
              <a:gd name="adj" fmla="val 2127"/>
            </a:avLst>
          </a:prstGeom>
          <a:solidFill>
            <a:srgbClr val="F5F4ED"/>
          </a:solidFill>
          <a:ln/>
        </p:spPr>
      </p:sp>
      <p:sp>
        <p:nvSpPr>
          <p:cNvPr id="65" name="Shape 56"/>
          <p:cNvSpPr/>
          <p:nvPr/>
        </p:nvSpPr>
        <p:spPr>
          <a:xfrm flipV="1">
            <a:off x="4286250" y="3577456"/>
            <a:ext cx="285750" cy="57150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66" name="Shape 57"/>
          <p:cNvSpPr/>
          <p:nvPr/>
        </p:nvSpPr>
        <p:spPr>
          <a:xfrm>
            <a:off x="4572000" y="3577456"/>
            <a:ext cx="285750" cy="57150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67" name="Shape 58"/>
          <p:cNvSpPr/>
          <p:nvPr/>
        </p:nvSpPr>
        <p:spPr>
          <a:xfrm>
            <a:off x="4857750" y="3634606"/>
            <a:ext cx="0" cy="250031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68" name="Shape 59"/>
          <p:cNvSpPr/>
          <p:nvPr/>
        </p:nvSpPr>
        <p:spPr>
          <a:xfrm flipH="1">
            <a:off x="4572000" y="3884637"/>
            <a:ext cx="285750" cy="57150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69" name="Shape 60"/>
          <p:cNvSpPr/>
          <p:nvPr/>
        </p:nvSpPr>
        <p:spPr>
          <a:xfrm flipH="1" flipV="1">
            <a:off x="4286250" y="3884637"/>
            <a:ext cx="285750" cy="57150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70" name="Shape 61"/>
          <p:cNvSpPr/>
          <p:nvPr/>
        </p:nvSpPr>
        <p:spPr>
          <a:xfrm flipV="1">
            <a:off x="4286250" y="3634606"/>
            <a:ext cx="0" cy="250031"/>
          </a:xfrm>
          <a:prstGeom prst="line">
            <a:avLst/>
          </a:prstGeom>
          <a:noFill/>
          <a:ln w="11430">
            <a:solidFill>
              <a:srgbClr val="C96442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4286250" y="3634606"/>
            <a:ext cx="571500" cy="0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2" name="Shape 63"/>
          <p:cNvSpPr/>
          <p:nvPr/>
        </p:nvSpPr>
        <p:spPr>
          <a:xfrm>
            <a:off x="4286250" y="3634606"/>
            <a:ext cx="571500" cy="25003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3" name="Shape 64"/>
          <p:cNvSpPr/>
          <p:nvPr/>
        </p:nvSpPr>
        <p:spPr>
          <a:xfrm>
            <a:off x="4286250" y="3634606"/>
            <a:ext cx="285750" cy="30718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4572000" y="3577456"/>
            <a:ext cx="0" cy="36433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4572000" y="3577456"/>
            <a:ext cx="285750" cy="30718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6" name="Shape 67"/>
          <p:cNvSpPr/>
          <p:nvPr/>
        </p:nvSpPr>
        <p:spPr>
          <a:xfrm flipH="1">
            <a:off x="4286250" y="3577456"/>
            <a:ext cx="285750" cy="30718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7" name="Shape 68"/>
          <p:cNvSpPr/>
          <p:nvPr/>
        </p:nvSpPr>
        <p:spPr>
          <a:xfrm flipH="1">
            <a:off x="4572000" y="3634606"/>
            <a:ext cx="285750" cy="30718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 flipH="1">
            <a:off x="4286250" y="3634606"/>
            <a:ext cx="571500" cy="250031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4286250" y="3884637"/>
            <a:ext cx="571500" cy="0"/>
          </a:xfrm>
          <a:prstGeom prst="line">
            <a:avLst/>
          </a:pr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80" name="Shape 71"/>
          <p:cNvSpPr/>
          <p:nvPr/>
        </p:nvSpPr>
        <p:spPr>
          <a:xfrm>
            <a:off x="4250531" y="3598887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1" name="Shape 72"/>
          <p:cNvSpPr/>
          <p:nvPr/>
        </p:nvSpPr>
        <p:spPr>
          <a:xfrm>
            <a:off x="4536281" y="3541737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2" name="Shape 73"/>
          <p:cNvSpPr/>
          <p:nvPr/>
        </p:nvSpPr>
        <p:spPr>
          <a:xfrm>
            <a:off x="4822031" y="3598887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3" name="Shape 74"/>
          <p:cNvSpPr/>
          <p:nvPr/>
        </p:nvSpPr>
        <p:spPr>
          <a:xfrm>
            <a:off x="4822031" y="3848919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4" name="Shape 75"/>
          <p:cNvSpPr/>
          <p:nvPr/>
        </p:nvSpPr>
        <p:spPr>
          <a:xfrm>
            <a:off x="4536281" y="3906069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5" name="Shape 76"/>
          <p:cNvSpPr/>
          <p:nvPr/>
        </p:nvSpPr>
        <p:spPr>
          <a:xfrm>
            <a:off x="4250531" y="3848919"/>
            <a:ext cx="71438" cy="714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6" name="Shape 77"/>
          <p:cNvSpPr/>
          <p:nvPr/>
        </p:nvSpPr>
        <p:spPr>
          <a:xfrm>
            <a:off x="6100763" y="2764631"/>
            <a:ext cx="2828925" cy="1950244"/>
          </a:xfrm>
          <a:prstGeom prst="roundRect">
            <a:avLst>
              <a:gd name="adj" fmla="val 1374"/>
            </a:avLst>
          </a:prstGeom>
          <a:solidFill>
            <a:srgbClr val="C96442"/>
          </a:solidFill>
          <a:ln/>
        </p:spPr>
      </p:sp>
      <p:pic>
        <p:nvPicPr>
          <p:cNvPr id="8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333" y="2893219"/>
            <a:ext cx="78581" cy="78581"/>
          </a:xfrm>
          <a:prstGeom prst="rect">
            <a:avLst/>
          </a:prstGeom>
        </p:spPr>
      </p:pic>
      <p:sp>
        <p:nvSpPr>
          <p:cNvPr id="88" name="Text 78"/>
          <p:cNvSpPr/>
          <p:nvPr/>
        </p:nvSpPr>
        <p:spPr>
          <a:xfrm>
            <a:off x="6338236" y="2864644"/>
            <a:ext cx="1350169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关键创新：边的动态"复活"</a:t>
            </a:r>
            <a:endParaRPr lang="en-US" sz="900" dirty="0"/>
          </a:p>
        </p:txBody>
      </p:sp>
      <p:sp>
        <p:nvSpPr>
          <p:cNvPr id="89" name="Text 79"/>
          <p:cNvSpPr/>
          <p:nvPr/>
        </p:nvSpPr>
        <p:spPr>
          <a:xfrm>
            <a:off x="6200775" y="3044633"/>
            <a:ext cx="2628900" cy="4429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即使边当前被Mask掉，仍能收到辅助Loss梯度。若后续Epoch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主任务需要该节点，辅助Loss推高其edge_scores，一旦超过阈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值即被Top-K重新"复活"。</a:t>
            </a:r>
            <a:endParaRPr lang="en-US" sz="700" dirty="0"/>
          </a:p>
        </p:txBody>
      </p:sp>
      <p:sp>
        <p:nvSpPr>
          <p:cNvPr id="90" name="Text 80"/>
          <p:cNvSpPr/>
          <p:nvPr/>
        </p:nvSpPr>
        <p:spPr>
          <a:xfrm>
            <a:off x="6200775" y="4365557"/>
            <a:ext cx="2628900" cy="250031"/>
          </a:xfrm>
          <a:prstGeom prst="roundRect">
            <a:avLst>
              <a:gd name="adj" fmla="val 15673"/>
            </a:avLst>
          </a:prstGeom>
          <a:solidFill>
            <a:srgbClr val="FAF9F5">
              <a:alpha val="15000"/>
            </a:srgbClr>
          </a:solidFill>
          <a:ln/>
        </p:spPr>
        <p:txBody>
          <a:bodyPr wrap="none" lIns="48578" tIns="48578" rIns="48578" bIns="48578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既实现物理稀疏计算，又保证全局梯度流动与动态探索能力</a:t>
            </a:r>
            <a:endParaRPr lang="en-US" sz="600" dirty="0"/>
          </a:p>
        </p:txBody>
      </p:sp>
      <p:sp>
        <p:nvSpPr>
          <p:cNvPr id="91" name="Shape 81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92" name="Text 82"/>
          <p:cNvSpPr/>
          <p:nvPr/>
        </p:nvSpPr>
        <p:spPr>
          <a:xfrm>
            <a:off x="214703" y="4775597"/>
            <a:ext cx="757237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ICU项目 · 边稀疏化模块</a:t>
            </a:r>
            <a:endParaRPr lang="en-US" sz="500" dirty="0"/>
          </a:p>
        </p:txBody>
      </p:sp>
      <p:sp>
        <p:nvSpPr>
          <p:cNvPr id="93" name="Text 83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/ 12</a:t>
            </a:r>
            <a:endParaRPr lang="en-US" sz="500" dirty="0"/>
          </a:p>
        </p:txBody>
      </p:sp>
      <p:pic>
        <p:nvPicPr>
          <p:cNvPr id="94" name="Image 8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3699" y="271407"/>
            <a:ext cx="4457700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Loss × Macro-F1：双管齐下应对医疗数据类别不平衡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699" y="477850"/>
            <a:ext cx="4457700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&amp; Macro-F1 for Extreme Class Imbalance in Medical Data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2917" y="700088"/>
            <a:ext cx="4943475" cy="4014788"/>
          </a:xfrm>
          <a:prstGeom prst="roundRect">
            <a:avLst>
              <a:gd name="adj" fmla="val 324"/>
            </a:avLst>
          </a:prstGeom>
          <a:solidFill>
            <a:srgbClr val="14141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25" y="828675"/>
            <a:ext cx="92869" cy="928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5365" y="800100"/>
            <a:ext cx="592931" cy="150019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Loss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40597" y="817959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解决极端类别不平衡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327217" y="1007269"/>
            <a:ext cx="4714875" cy="414338"/>
          </a:xfrm>
          <a:prstGeom prst="roundRect">
            <a:avLst>
              <a:gd name="adj" fmla="val 7610"/>
            </a:avLst>
          </a:prstGeom>
          <a:solidFill>
            <a:srgbClr val="3030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89" y="1110853"/>
            <a:ext cx="57150" cy="571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029" y="1078706"/>
            <a:ext cx="742950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标准交叉熵的困境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98655" y="1221581"/>
            <a:ext cx="4572000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100个难分正样本Loss≈230，被100,000个易分负样本Loss≈400淹没</a:t>
            </a:r>
            <a:endParaRPr lang="en-US" sz="600" dirty="0"/>
          </a:p>
        </p:txBody>
      </p:sp>
      <p:sp>
        <p:nvSpPr>
          <p:cNvPr id="15" name="Shape 11"/>
          <p:cNvSpPr/>
          <p:nvPr/>
        </p:nvSpPr>
        <p:spPr>
          <a:xfrm>
            <a:off x="327217" y="1478756"/>
            <a:ext cx="4714875" cy="650081"/>
          </a:xfrm>
          <a:prstGeom prst="roundRect">
            <a:avLst>
              <a:gd name="adj" fmla="val 3091"/>
            </a:avLst>
          </a:prstGeom>
          <a:solidFill>
            <a:srgbClr val="30302E"/>
          </a:solidFill>
          <a:ln/>
        </p:spPr>
      </p:sp>
      <p:sp>
        <p:nvSpPr>
          <p:cNvPr id="16" name="Text 12"/>
          <p:cNvSpPr/>
          <p:nvPr/>
        </p:nvSpPr>
        <p:spPr>
          <a:xfrm>
            <a:off x="412942" y="1564481"/>
            <a:ext cx="454342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公式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412942" y="1693069"/>
            <a:ext cx="4543425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FL(p</a:t>
            </a:r>
            <a:pPr algn="ctr" indent="0" marL="0">
              <a:buNone/>
            </a:pPr>
            <a:r>
              <a:rPr lang="en-US" sz="8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−α</a:t>
            </a:r>
            <a:pPr algn="ctr" indent="0" marL="0">
              <a:buNone/>
            </a:pPr>
            <a:r>
              <a:rPr lang="en-US" sz="8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(1−p</a:t>
            </a:r>
            <a:pPr algn="ctr" indent="0" marL="0">
              <a:buNone/>
            </a:pPr>
            <a:r>
              <a:rPr lang="en-US" sz="8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buNone/>
            </a:pPr>
            <a:r>
              <a:rPr lang="en-US" sz="8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log(p</a:t>
            </a:r>
            <a:pPr algn="ctr" indent="0" marL="0">
              <a:buNone/>
            </a:pPr>
            <a:r>
              <a:rPr lang="en-US" sz="8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12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028434" y="1921669"/>
            <a:ext cx="507206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B0A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pPr algn="ctr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=2 聚焦参数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2706086" y="1921669"/>
            <a:ext cx="635794" cy="12144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i="1" dirty="0">
                <a:solidFill>
                  <a:srgbClr val="B0A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pPr algn="ctr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=0.25 平衡参数</a:t>
            </a:r>
            <a:endParaRPr lang="en-US" sz="600" dirty="0"/>
          </a:p>
        </p:txBody>
      </p:sp>
      <p:sp>
        <p:nvSpPr>
          <p:cNvPr id="20" name="Shape 16"/>
          <p:cNvSpPr/>
          <p:nvPr/>
        </p:nvSpPr>
        <p:spPr>
          <a:xfrm>
            <a:off x="327217" y="2185988"/>
            <a:ext cx="4714875" cy="400050"/>
          </a:xfrm>
          <a:prstGeom prst="roundRect">
            <a:avLst>
              <a:gd name="adj" fmla="val 8163"/>
            </a:avLst>
          </a:prstGeom>
          <a:solidFill>
            <a:srgbClr val="30302E"/>
          </a:solidFill>
          <a:ln/>
        </p:spPr>
      </p:sp>
      <p:sp>
        <p:nvSpPr>
          <p:cNvPr id="21" name="Text 17"/>
          <p:cNvSpPr/>
          <p:nvPr/>
        </p:nvSpPr>
        <p:spPr>
          <a:xfrm>
            <a:off x="867742" y="2257425"/>
            <a:ext cx="892969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标准交叉熵</a:t>
            </a:r>
            <a:endParaRPr lang="en-US" sz="500" dirty="0"/>
          </a:p>
        </p:txBody>
      </p:sp>
      <p:sp>
        <p:nvSpPr>
          <p:cNvPr id="22" name="Text 18"/>
          <p:cNvSpPr/>
          <p:nvPr/>
        </p:nvSpPr>
        <p:spPr>
          <a:xfrm>
            <a:off x="867742" y="2378869"/>
            <a:ext cx="892969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786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CE(p</a:t>
            </a:r>
            <a:pPr algn="ctr" indent="0" marL="0">
              <a:buNone/>
            </a:pPr>
            <a:r>
              <a:rPr lang="en-US" sz="600" i="1" dirty="0">
                <a:solidFill>
                  <a:srgbClr val="8786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900" i="1" dirty="0">
                <a:solidFill>
                  <a:srgbClr val="8786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−log(p</a:t>
            </a:r>
            <a:pPr algn="ctr" indent="0" marL="0">
              <a:buNone/>
            </a:pPr>
            <a:r>
              <a:rPr lang="en-US" sz="600" i="1" dirty="0">
                <a:solidFill>
                  <a:srgbClr val="8786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900" i="1" dirty="0">
                <a:solidFill>
                  <a:srgbClr val="87867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33" y="2350294"/>
            <a:ext cx="71438" cy="714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6434" y="2257425"/>
            <a:ext cx="792956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增加调制因子</a:t>
            </a:r>
            <a:endParaRPr lang="en-US" sz="500" dirty="0"/>
          </a:p>
        </p:txBody>
      </p:sp>
      <p:sp>
        <p:nvSpPr>
          <p:cNvPr id="25" name="Text 20"/>
          <p:cNvSpPr/>
          <p:nvPr/>
        </p:nvSpPr>
        <p:spPr>
          <a:xfrm>
            <a:off x="3706434" y="2378869"/>
            <a:ext cx="792956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(1−p</a:t>
            </a:r>
            <a:pPr algn="ctr" indent="0" marL="0">
              <a:buNone/>
            </a:pPr>
            <a:r>
              <a:rPr lang="en-US" sz="6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pPr algn="ctr"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pPr algn="ctr" indent="0" marL="0">
              <a:buNone/>
            </a:pPr>
            <a:r>
              <a:rPr lang="en-US" sz="6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pPr algn="ctr" indent="0" marL="0">
              <a:buNone/>
            </a:pPr>
            <a:r>
              <a:rPr lang="en-US" sz="9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α</a:t>
            </a:r>
            <a:pPr algn="ctr" indent="0" marL="0">
              <a:buNone/>
            </a:pPr>
            <a:r>
              <a:rPr lang="en-US" sz="600" i="1" dirty="0">
                <a:solidFill>
                  <a:srgbClr val="D9775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7217" y="2644527"/>
            <a:ext cx="4714875" cy="600075"/>
          </a:xfrm>
          <a:prstGeom prst="roundRect">
            <a:avLst>
              <a:gd name="adj" fmla="val 3628"/>
            </a:avLst>
          </a:prstGeom>
          <a:solidFill>
            <a:srgbClr val="30302E"/>
          </a:solidFill>
          <a:ln/>
        </p:spPr>
      </p:sp>
      <p:sp>
        <p:nvSpPr>
          <p:cNvPr id="27" name="Shape 22"/>
          <p:cNvSpPr/>
          <p:nvPr/>
        </p:nvSpPr>
        <p:spPr>
          <a:xfrm>
            <a:off x="400050" y="2714625"/>
            <a:ext cx="200025" cy="200025"/>
          </a:xfrm>
          <a:prstGeom prst="roundRect">
            <a:avLst>
              <a:gd name="adj" fmla="val 24490"/>
            </a:avLst>
          </a:prstGeom>
          <a:solidFill>
            <a:srgbClr val="C96442"/>
          </a:solidFill>
          <a:ln/>
        </p:spPr>
      </p:sp>
      <p:sp>
        <p:nvSpPr>
          <p:cNvPr id="28" name="Text 23"/>
          <p:cNvSpPr/>
          <p:nvPr/>
        </p:nvSpPr>
        <p:spPr>
          <a:xfrm>
            <a:off x="467916" y="2750344"/>
            <a:ext cx="64294" cy="128588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AF9F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85800" y="2728912"/>
            <a:ext cx="13001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聚焦参数：按难度动态分配权重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684405" y="2872457"/>
            <a:ext cx="42862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易分样本 </a:t>
            </a:r>
            <a:pPr algn="l" indent="0" marL="0">
              <a:buNone/>
            </a:pPr>
            <a:r>
              <a:rPr lang="en-US" sz="600" i="1" dirty="0">
                <a:solidFill>
                  <a:srgbClr val="B0A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pt</a:t>
            </a:r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=0.9 → Loss </a:t>
            </a:r>
            <a:pPr algn="l" indent="0" marL="0">
              <a:buNone/>
            </a:pPr>
            <a:r>
              <a:rPr lang="en-US" sz="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缩小100倍</a:t>
            </a:r>
            <a:endParaRPr lang="en-US" sz="600" dirty="0"/>
          </a:p>
        </p:txBody>
      </p:sp>
      <p:sp>
        <p:nvSpPr>
          <p:cNvPr id="31" name="Text 26"/>
          <p:cNvSpPr/>
          <p:nvPr/>
        </p:nvSpPr>
        <p:spPr>
          <a:xfrm>
            <a:off x="684405" y="3030959"/>
            <a:ext cx="4286250" cy="142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难分样本 </a:t>
            </a:r>
            <a:pPr algn="l" indent="0" marL="0">
              <a:buNone/>
            </a:pPr>
            <a:r>
              <a:rPr lang="en-US" sz="600" i="1" dirty="0">
                <a:solidFill>
                  <a:srgbClr val="B0AEA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pt</a:t>
            </a:r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=0.1 → Loss </a:t>
            </a:r>
            <a:pPr algn="l" indent="0" marL="0">
              <a:buNone/>
            </a:pPr>
            <a:r>
              <a:rPr lang="en-US" sz="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几乎不衰减</a:t>
            </a:r>
            <a:endParaRPr lang="en-US" sz="600" dirty="0"/>
          </a:p>
        </p:txBody>
      </p:sp>
      <p:sp>
        <p:nvSpPr>
          <p:cNvPr id="32" name="Shape 27"/>
          <p:cNvSpPr/>
          <p:nvPr/>
        </p:nvSpPr>
        <p:spPr>
          <a:xfrm>
            <a:off x="327217" y="3288804"/>
            <a:ext cx="4714875" cy="414338"/>
          </a:xfrm>
          <a:prstGeom prst="roundRect">
            <a:avLst>
              <a:gd name="adj" fmla="val 7610"/>
            </a:avLst>
          </a:prstGeom>
          <a:solidFill>
            <a:srgbClr val="30302E"/>
          </a:solidFill>
          <a:ln/>
        </p:spPr>
      </p:sp>
      <p:sp>
        <p:nvSpPr>
          <p:cNvPr id="33" name="Shape 28"/>
          <p:cNvSpPr/>
          <p:nvPr/>
        </p:nvSpPr>
        <p:spPr>
          <a:xfrm>
            <a:off x="400050" y="3360241"/>
            <a:ext cx="200025" cy="200025"/>
          </a:xfrm>
          <a:prstGeom prst="roundRect">
            <a:avLst>
              <a:gd name="adj" fmla="val 24490"/>
            </a:avLst>
          </a:prstGeom>
          <a:solidFill>
            <a:srgbClr val="C96442"/>
          </a:solidFill>
          <a:ln/>
        </p:spPr>
      </p:sp>
      <p:sp>
        <p:nvSpPr>
          <p:cNvPr id="34" name="Text 29"/>
          <p:cNvSpPr/>
          <p:nvPr/>
        </p:nvSpPr>
        <p:spPr>
          <a:xfrm>
            <a:off x="464344" y="3395960"/>
            <a:ext cx="71438" cy="128588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FAF9F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α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85800" y="3374529"/>
            <a:ext cx="13001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平衡参数：从数量上平衡正负类</a:t>
            </a:r>
            <a:endParaRPr lang="en-US" sz="700" dirty="0"/>
          </a:p>
        </p:txBody>
      </p:sp>
      <p:sp>
        <p:nvSpPr>
          <p:cNvPr id="36" name="Text 31"/>
          <p:cNvSpPr/>
          <p:nvPr/>
        </p:nvSpPr>
        <p:spPr>
          <a:xfrm>
            <a:off x="684405" y="3503116"/>
            <a:ext cx="4286250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为少数类分配更高权重　γ解决"难易"问题，α解决"数量"问题</a:t>
            </a:r>
            <a:endParaRPr lang="en-US" sz="600" dirty="0"/>
          </a:p>
        </p:txBody>
      </p:sp>
      <p:sp>
        <p:nvSpPr>
          <p:cNvPr id="37" name="Shape 32"/>
          <p:cNvSpPr/>
          <p:nvPr/>
        </p:nvSpPr>
        <p:spPr>
          <a:xfrm>
            <a:off x="5270692" y="700088"/>
            <a:ext cx="3657600" cy="1978819"/>
          </a:xfrm>
          <a:prstGeom prst="roundRect">
            <a:avLst>
              <a:gd name="adj" fmla="val 1335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4155" y="842963"/>
            <a:ext cx="78581" cy="78581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519719" y="814388"/>
            <a:ext cx="1057275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评估策略：Macro-F1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384992" y="1343025"/>
            <a:ext cx="3429000" cy="414338"/>
          </a:xfrm>
          <a:prstGeom prst="roundRect">
            <a:avLst>
              <a:gd name="adj" fmla="val 5707"/>
            </a:avLst>
          </a:prstGeom>
          <a:solidFill>
            <a:srgbClr val="F5F4ED"/>
          </a:solidFill>
          <a:ln/>
        </p:spPr>
      </p:sp>
      <p:sp>
        <p:nvSpPr>
          <p:cNvPr id="41" name="Text 35"/>
          <p:cNvSpPr/>
          <p:nvPr/>
        </p:nvSpPr>
        <p:spPr>
          <a:xfrm>
            <a:off x="5456039" y="1428750"/>
            <a:ext cx="364331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Micro-F1</a:t>
            </a:r>
            <a:endParaRPr lang="en-US" sz="700" dirty="0"/>
          </a:p>
        </p:txBody>
      </p:sp>
      <p:sp>
        <p:nvSpPr>
          <p:cNvPr id="42" name="Text 36"/>
          <p:cNvSpPr/>
          <p:nvPr/>
        </p:nvSpPr>
        <p:spPr>
          <a:xfrm>
            <a:off x="5456430" y="1557337"/>
            <a:ext cx="328612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全局统算TP/FP/FN，受多数类主导，样本量大的类别影响越大</a:t>
            </a:r>
            <a:endParaRPr lang="en-US" sz="600" dirty="0"/>
          </a:p>
        </p:txBody>
      </p:sp>
      <p:sp>
        <p:nvSpPr>
          <p:cNvPr id="43" name="Shape 37"/>
          <p:cNvSpPr/>
          <p:nvPr/>
        </p:nvSpPr>
        <p:spPr>
          <a:xfrm>
            <a:off x="5384992" y="1814513"/>
            <a:ext cx="3429000" cy="414338"/>
          </a:xfrm>
          <a:prstGeom prst="roundRect">
            <a:avLst>
              <a:gd name="adj" fmla="val 5707"/>
            </a:avLst>
          </a:prstGeom>
          <a:solidFill>
            <a:srgbClr val="C96442"/>
          </a:solidFill>
          <a:ln/>
        </p:spPr>
      </p:sp>
      <p:sp>
        <p:nvSpPr>
          <p:cNvPr id="44" name="Text 38"/>
          <p:cNvSpPr/>
          <p:nvPr/>
        </p:nvSpPr>
        <p:spPr>
          <a:xfrm>
            <a:off x="5454923" y="1900238"/>
            <a:ext cx="492919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Macro-F1 ✓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5456430" y="2028825"/>
            <a:ext cx="328612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先独立计算每个类别F1再取平均，众生平等，对少数类高度敏感</a:t>
            </a:r>
            <a:endParaRPr lang="en-US" sz="600" dirty="0"/>
          </a:p>
        </p:txBody>
      </p:sp>
      <p:sp>
        <p:nvSpPr>
          <p:cNvPr id="46" name="Shape 40"/>
          <p:cNvSpPr/>
          <p:nvPr/>
        </p:nvSpPr>
        <p:spPr>
          <a:xfrm>
            <a:off x="5270692" y="2793206"/>
            <a:ext cx="3657600" cy="1921669"/>
          </a:xfrm>
          <a:prstGeom prst="roundRect">
            <a:avLst>
              <a:gd name="adj" fmla="val 1415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4185" y="2900363"/>
            <a:ext cx="71438" cy="7143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481098" y="2878931"/>
            <a:ext cx="1235869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Loss vs Cross Entropy</a:t>
            </a:r>
            <a:endParaRPr lang="en-US" sz="700" dirty="0"/>
          </a:p>
        </p:txBody>
      </p:sp>
      <p:sp>
        <p:nvSpPr>
          <p:cNvPr id="49" name="Shape 42"/>
          <p:cNvSpPr/>
          <p:nvPr/>
        </p:nvSpPr>
        <p:spPr>
          <a:xfrm>
            <a:off x="5773360" y="4368403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5773360" y="4161234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5773360" y="3954066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5773360" y="3746897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5773360" y="3546872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773360" y="3339703"/>
            <a:ext cx="2893505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5467607" y="3123248"/>
            <a:ext cx="6115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563" dirty="0"/>
          </a:p>
        </p:txBody>
      </p:sp>
      <p:sp>
        <p:nvSpPr>
          <p:cNvPr id="56" name="Shape 49"/>
          <p:cNvSpPr/>
          <p:nvPr/>
        </p:nvSpPr>
        <p:spPr>
          <a:xfrm>
            <a:off x="5773360" y="4368403"/>
            <a:ext cx="2893505" cy="0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8774021" y="4292322"/>
            <a:ext cx="504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p_t</a:t>
            </a:r>
            <a:endParaRPr lang="en-US" sz="563" dirty="0"/>
          </a:p>
        </p:txBody>
      </p:sp>
      <p:sp>
        <p:nvSpPr>
          <p:cNvPr id="58" name="Shape 51"/>
          <p:cNvSpPr/>
          <p:nvPr/>
        </p:nvSpPr>
        <p:spPr>
          <a:xfrm>
            <a:off x="5772931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6094400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415869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6737338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7058806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7380275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7701744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8023213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8344681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8666150" y="4363760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5436889" y="4299466"/>
            <a:ext cx="279321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06" dirty="0"/>
          </a:p>
        </p:txBody>
      </p:sp>
      <p:sp>
        <p:nvSpPr>
          <p:cNvPr id="69" name="Text 62"/>
          <p:cNvSpPr/>
          <p:nvPr/>
        </p:nvSpPr>
        <p:spPr>
          <a:xfrm>
            <a:off x="5244008" y="4094226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506" dirty="0"/>
          </a:p>
        </p:txBody>
      </p:sp>
      <p:sp>
        <p:nvSpPr>
          <p:cNvPr id="70" name="Text 63"/>
          <p:cNvSpPr/>
          <p:nvPr/>
        </p:nvSpPr>
        <p:spPr>
          <a:xfrm>
            <a:off x="5436889" y="3888986"/>
            <a:ext cx="279321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6" dirty="0"/>
          </a:p>
        </p:txBody>
      </p:sp>
      <p:sp>
        <p:nvSpPr>
          <p:cNvPr id="71" name="Text 64"/>
          <p:cNvSpPr/>
          <p:nvPr/>
        </p:nvSpPr>
        <p:spPr>
          <a:xfrm>
            <a:off x="5244008" y="3683746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506" dirty="0"/>
          </a:p>
        </p:txBody>
      </p:sp>
      <p:sp>
        <p:nvSpPr>
          <p:cNvPr id="72" name="Text 65"/>
          <p:cNvSpPr/>
          <p:nvPr/>
        </p:nvSpPr>
        <p:spPr>
          <a:xfrm>
            <a:off x="5436889" y="3478506"/>
            <a:ext cx="279321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6" dirty="0"/>
          </a:p>
        </p:txBody>
      </p:sp>
      <p:sp>
        <p:nvSpPr>
          <p:cNvPr id="73" name="Text 66"/>
          <p:cNvSpPr/>
          <p:nvPr/>
        </p:nvSpPr>
        <p:spPr>
          <a:xfrm>
            <a:off x="5244008" y="3273266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506" dirty="0"/>
          </a:p>
        </p:txBody>
      </p:sp>
      <p:sp>
        <p:nvSpPr>
          <p:cNvPr id="74" name="Text 67"/>
          <p:cNvSpPr/>
          <p:nvPr/>
        </p:nvSpPr>
        <p:spPr>
          <a:xfrm>
            <a:off x="5698009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506" dirty="0"/>
          </a:p>
        </p:txBody>
      </p:sp>
      <p:sp>
        <p:nvSpPr>
          <p:cNvPr id="75" name="Text 68"/>
          <p:cNvSpPr/>
          <p:nvPr/>
        </p:nvSpPr>
        <p:spPr>
          <a:xfrm>
            <a:off x="6019510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506" dirty="0"/>
          </a:p>
        </p:txBody>
      </p:sp>
      <p:sp>
        <p:nvSpPr>
          <p:cNvPr id="76" name="Text 69"/>
          <p:cNvSpPr/>
          <p:nvPr/>
        </p:nvSpPr>
        <p:spPr>
          <a:xfrm>
            <a:off x="6341010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506" dirty="0"/>
          </a:p>
        </p:txBody>
      </p:sp>
      <p:sp>
        <p:nvSpPr>
          <p:cNvPr id="77" name="Text 70"/>
          <p:cNvSpPr/>
          <p:nvPr/>
        </p:nvSpPr>
        <p:spPr>
          <a:xfrm>
            <a:off x="6662511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506" dirty="0"/>
          </a:p>
        </p:txBody>
      </p:sp>
      <p:sp>
        <p:nvSpPr>
          <p:cNvPr id="78" name="Text 71"/>
          <p:cNvSpPr/>
          <p:nvPr/>
        </p:nvSpPr>
        <p:spPr>
          <a:xfrm>
            <a:off x="6984011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506" dirty="0"/>
          </a:p>
        </p:txBody>
      </p:sp>
      <p:sp>
        <p:nvSpPr>
          <p:cNvPr id="79" name="Text 72"/>
          <p:cNvSpPr/>
          <p:nvPr/>
        </p:nvSpPr>
        <p:spPr>
          <a:xfrm>
            <a:off x="7305511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506" dirty="0"/>
          </a:p>
        </p:txBody>
      </p:sp>
      <p:sp>
        <p:nvSpPr>
          <p:cNvPr id="80" name="Text 73"/>
          <p:cNvSpPr/>
          <p:nvPr/>
        </p:nvSpPr>
        <p:spPr>
          <a:xfrm>
            <a:off x="7627012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</a:t>
            </a:r>
            <a:endParaRPr lang="en-US" sz="506" dirty="0"/>
          </a:p>
        </p:txBody>
      </p:sp>
      <p:sp>
        <p:nvSpPr>
          <p:cNvPr id="81" name="Text 74"/>
          <p:cNvSpPr/>
          <p:nvPr/>
        </p:nvSpPr>
        <p:spPr>
          <a:xfrm>
            <a:off x="7948513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506" dirty="0"/>
          </a:p>
        </p:txBody>
      </p:sp>
      <p:sp>
        <p:nvSpPr>
          <p:cNvPr id="82" name="Text 75"/>
          <p:cNvSpPr/>
          <p:nvPr/>
        </p:nvSpPr>
        <p:spPr>
          <a:xfrm>
            <a:off x="8270013" y="43887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</a:t>
            </a:r>
            <a:endParaRPr lang="en-US" sz="506" dirty="0"/>
          </a:p>
        </p:txBody>
      </p:sp>
      <p:sp>
        <p:nvSpPr>
          <p:cNvPr id="83" name="Shape 76"/>
          <p:cNvSpPr/>
          <p:nvPr/>
        </p:nvSpPr>
        <p:spPr>
          <a:xfrm>
            <a:off x="5934110" y="3598176"/>
            <a:ext cx="2572004" cy="765584"/>
          </a:xfrm>
          <a:custGeom>
            <a:avLst/>
            <a:gdLst/>
            <a:ahLst/>
            <a:cxnLst/>
            <a:rect l="l" t="t" r="r" b="b"/>
            <a:pathLst>
              <a:path w="2572004" h="765584">
                <a:moveTo>
                  <a:pt x="0" y="0"/>
                </a:moveTo>
                <a:lnTo>
                  <a:pt x="1047" y="1440"/>
                </a:lnTo>
                <a:lnTo>
                  <a:pt x="4138" y="5638"/>
                </a:lnTo>
                <a:lnTo>
                  <a:pt x="9196" y="12410"/>
                </a:lnTo>
                <a:lnTo>
                  <a:pt x="16142" y="21571"/>
                </a:lnTo>
                <a:lnTo>
                  <a:pt x="24902" y="32937"/>
                </a:lnTo>
                <a:lnTo>
                  <a:pt x="35397" y="46324"/>
                </a:lnTo>
                <a:lnTo>
                  <a:pt x="47552" y="61548"/>
                </a:lnTo>
                <a:lnTo>
                  <a:pt x="61287" y="78424"/>
                </a:lnTo>
                <a:lnTo>
                  <a:pt x="76528" y="96768"/>
                </a:lnTo>
                <a:lnTo>
                  <a:pt x="93197" y="116396"/>
                </a:lnTo>
                <a:lnTo>
                  <a:pt x="111217" y="137124"/>
                </a:lnTo>
                <a:lnTo>
                  <a:pt x="130511" y="158768"/>
                </a:lnTo>
                <a:lnTo>
                  <a:pt x="151003" y="181143"/>
                </a:lnTo>
                <a:lnTo>
                  <a:pt x="172614" y="204065"/>
                </a:lnTo>
                <a:lnTo>
                  <a:pt x="195269" y="227351"/>
                </a:lnTo>
                <a:lnTo>
                  <a:pt x="218890" y="250815"/>
                </a:lnTo>
                <a:lnTo>
                  <a:pt x="243401" y="274273"/>
                </a:lnTo>
                <a:lnTo>
                  <a:pt x="268724" y="297542"/>
                </a:lnTo>
                <a:lnTo>
                  <a:pt x="294783" y="320436"/>
                </a:lnTo>
                <a:lnTo>
                  <a:pt x="321501" y="342773"/>
                </a:lnTo>
                <a:lnTo>
                  <a:pt x="341774" y="359127"/>
                </a:lnTo>
                <a:lnTo>
                  <a:pt x="360329" y="373771"/>
                </a:lnTo>
                <a:lnTo>
                  <a:pt x="377377" y="386862"/>
                </a:lnTo>
                <a:lnTo>
                  <a:pt x="393132" y="398557"/>
                </a:lnTo>
                <a:lnTo>
                  <a:pt x="407807" y="409012"/>
                </a:lnTo>
                <a:lnTo>
                  <a:pt x="421614" y="418383"/>
                </a:lnTo>
                <a:lnTo>
                  <a:pt x="434766" y="426827"/>
                </a:lnTo>
                <a:lnTo>
                  <a:pt x="447476" y="434501"/>
                </a:lnTo>
                <a:lnTo>
                  <a:pt x="459957" y="441560"/>
                </a:lnTo>
                <a:lnTo>
                  <a:pt x="472422" y="448161"/>
                </a:lnTo>
                <a:lnTo>
                  <a:pt x="485084" y="454462"/>
                </a:lnTo>
                <a:lnTo>
                  <a:pt x="498154" y="460617"/>
                </a:lnTo>
                <a:lnTo>
                  <a:pt x="511848" y="466784"/>
                </a:lnTo>
                <a:lnTo>
                  <a:pt x="526376" y="473120"/>
                </a:lnTo>
                <a:lnTo>
                  <a:pt x="541952" y="479779"/>
                </a:lnTo>
                <a:lnTo>
                  <a:pt x="558789" y="486920"/>
                </a:lnTo>
                <a:lnTo>
                  <a:pt x="577099" y="494698"/>
                </a:lnTo>
                <a:lnTo>
                  <a:pt x="597096" y="503271"/>
                </a:lnTo>
                <a:lnTo>
                  <a:pt x="618993" y="512793"/>
                </a:lnTo>
                <a:lnTo>
                  <a:pt x="643001" y="523423"/>
                </a:lnTo>
                <a:lnTo>
                  <a:pt x="665006" y="533201"/>
                </a:lnTo>
                <a:lnTo>
                  <a:pt x="684997" y="541958"/>
                </a:lnTo>
                <a:lnTo>
                  <a:pt x="703205" y="549785"/>
                </a:lnTo>
                <a:lnTo>
                  <a:pt x="719862" y="556774"/>
                </a:lnTo>
                <a:lnTo>
                  <a:pt x="735200" y="563019"/>
                </a:lnTo>
                <a:lnTo>
                  <a:pt x="749450" y="568611"/>
                </a:lnTo>
                <a:lnTo>
                  <a:pt x="762844" y="573644"/>
                </a:lnTo>
                <a:lnTo>
                  <a:pt x="775614" y="578209"/>
                </a:lnTo>
                <a:lnTo>
                  <a:pt x="787992" y="582399"/>
                </a:lnTo>
                <a:lnTo>
                  <a:pt x="800208" y="586307"/>
                </a:lnTo>
                <a:lnTo>
                  <a:pt x="812496" y="590024"/>
                </a:lnTo>
                <a:lnTo>
                  <a:pt x="825086" y="593644"/>
                </a:lnTo>
                <a:lnTo>
                  <a:pt x="838210" y="597259"/>
                </a:lnTo>
                <a:lnTo>
                  <a:pt x="852101" y="600961"/>
                </a:lnTo>
                <a:lnTo>
                  <a:pt x="866988" y="604842"/>
                </a:lnTo>
                <a:lnTo>
                  <a:pt x="883106" y="608996"/>
                </a:lnTo>
                <a:lnTo>
                  <a:pt x="900684" y="613514"/>
                </a:lnTo>
                <a:lnTo>
                  <a:pt x="919955" y="618489"/>
                </a:lnTo>
                <a:lnTo>
                  <a:pt x="941150" y="624014"/>
                </a:lnTo>
                <a:lnTo>
                  <a:pt x="964502" y="630181"/>
                </a:lnTo>
                <a:lnTo>
                  <a:pt x="987086" y="636158"/>
                </a:lnTo>
                <a:lnTo>
                  <a:pt x="1007559" y="641509"/>
                </a:lnTo>
                <a:lnTo>
                  <a:pt x="1026160" y="646289"/>
                </a:lnTo>
                <a:lnTo>
                  <a:pt x="1043126" y="650555"/>
                </a:lnTo>
                <a:lnTo>
                  <a:pt x="1058694" y="654363"/>
                </a:lnTo>
                <a:lnTo>
                  <a:pt x="1073101" y="657768"/>
                </a:lnTo>
                <a:lnTo>
                  <a:pt x="1086586" y="660826"/>
                </a:lnTo>
                <a:lnTo>
                  <a:pt x="1099386" y="663593"/>
                </a:lnTo>
                <a:lnTo>
                  <a:pt x="1111738" y="666126"/>
                </a:lnTo>
                <a:lnTo>
                  <a:pt x="1123880" y="668479"/>
                </a:lnTo>
                <a:lnTo>
                  <a:pt x="1136050" y="670709"/>
                </a:lnTo>
                <a:lnTo>
                  <a:pt x="1148484" y="672871"/>
                </a:lnTo>
                <a:lnTo>
                  <a:pt x="1161421" y="675022"/>
                </a:lnTo>
                <a:lnTo>
                  <a:pt x="1175098" y="677218"/>
                </a:lnTo>
                <a:lnTo>
                  <a:pt x="1189753" y="679513"/>
                </a:lnTo>
                <a:lnTo>
                  <a:pt x="1205622" y="681965"/>
                </a:lnTo>
                <a:lnTo>
                  <a:pt x="1222945" y="684629"/>
                </a:lnTo>
                <a:lnTo>
                  <a:pt x="1241957" y="687561"/>
                </a:lnTo>
                <a:lnTo>
                  <a:pt x="1262897" y="690817"/>
                </a:lnTo>
                <a:lnTo>
                  <a:pt x="1286002" y="694453"/>
                </a:lnTo>
                <a:lnTo>
                  <a:pt x="1308807" y="698047"/>
                </a:lnTo>
                <a:lnTo>
                  <a:pt x="1329466" y="701261"/>
                </a:lnTo>
                <a:lnTo>
                  <a:pt x="1348217" y="704128"/>
                </a:lnTo>
                <a:lnTo>
                  <a:pt x="1365302" y="706682"/>
                </a:lnTo>
                <a:lnTo>
                  <a:pt x="1380959" y="708956"/>
                </a:lnTo>
                <a:lnTo>
                  <a:pt x="1395429" y="710983"/>
                </a:lnTo>
                <a:lnTo>
                  <a:pt x="1408950" y="712796"/>
                </a:lnTo>
                <a:lnTo>
                  <a:pt x="1421763" y="714428"/>
                </a:lnTo>
                <a:lnTo>
                  <a:pt x="1434107" y="715914"/>
                </a:lnTo>
                <a:lnTo>
                  <a:pt x="1446222" y="717285"/>
                </a:lnTo>
                <a:lnTo>
                  <a:pt x="1458348" y="718575"/>
                </a:lnTo>
                <a:lnTo>
                  <a:pt x="1470724" y="719818"/>
                </a:lnTo>
                <a:lnTo>
                  <a:pt x="1483590" y="721046"/>
                </a:lnTo>
                <a:lnTo>
                  <a:pt x="1497185" y="722294"/>
                </a:lnTo>
                <a:lnTo>
                  <a:pt x="1511750" y="723593"/>
                </a:lnTo>
                <a:lnTo>
                  <a:pt x="1527524" y="724978"/>
                </a:lnTo>
                <a:lnTo>
                  <a:pt x="1544746" y="726481"/>
                </a:lnTo>
                <a:lnTo>
                  <a:pt x="1563657" y="728136"/>
                </a:lnTo>
                <a:lnTo>
                  <a:pt x="1584496" y="729976"/>
                </a:lnTo>
                <a:lnTo>
                  <a:pt x="1607502" y="732034"/>
                </a:lnTo>
                <a:lnTo>
                  <a:pt x="1630397" y="734085"/>
                </a:lnTo>
                <a:lnTo>
                  <a:pt x="1651130" y="735915"/>
                </a:lnTo>
                <a:lnTo>
                  <a:pt x="1669942" y="737542"/>
                </a:lnTo>
                <a:lnTo>
                  <a:pt x="1687075" y="738986"/>
                </a:lnTo>
                <a:lnTo>
                  <a:pt x="1702768" y="740264"/>
                </a:lnTo>
                <a:lnTo>
                  <a:pt x="1717262" y="741396"/>
                </a:lnTo>
                <a:lnTo>
                  <a:pt x="1730798" y="742400"/>
                </a:lnTo>
                <a:lnTo>
                  <a:pt x="1743617" y="743296"/>
                </a:lnTo>
                <a:lnTo>
                  <a:pt x="1755957" y="744102"/>
                </a:lnTo>
                <a:lnTo>
                  <a:pt x="1768062" y="744837"/>
                </a:lnTo>
                <a:lnTo>
                  <a:pt x="1780169" y="745519"/>
                </a:lnTo>
                <a:lnTo>
                  <a:pt x="1792522" y="746168"/>
                </a:lnTo>
                <a:lnTo>
                  <a:pt x="1805359" y="746802"/>
                </a:lnTo>
                <a:lnTo>
                  <a:pt x="1818922" y="747441"/>
                </a:lnTo>
                <a:lnTo>
                  <a:pt x="1833450" y="748102"/>
                </a:lnTo>
                <a:lnTo>
                  <a:pt x="1849186" y="748804"/>
                </a:lnTo>
                <a:lnTo>
                  <a:pt x="1866368" y="749567"/>
                </a:lnTo>
                <a:lnTo>
                  <a:pt x="1885238" y="750410"/>
                </a:lnTo>
                <a:lnTo>
                  <a:pt x="1906036" y="751350"/>
                </a:lnTo>
                <a:lnTo>
                  <a:pt x="1929003" y="752407"/>
                </a:lnTo>
                <a:lnTo>
                  <a:pt x="1951933" y="753464"/>
                </a:lnTo>
                <a:lnTo>
                  <a:pt x="1972696" y="754401"/>
                </a:lnTo>
                <a:lnTo>
                  <a:pt x="1991533" y="755229"/>
                </a:lnTo>
                <a:lnTo>
                  <a:pt x="2008684" y="755957"/>
                </a:lnTo>
                <a:lnTo>
                  <a:pt x="2024391" y="756595"/>
                </a:lnTo>
                <a:lnTo>
                  <a:pt x="2038895" y="757152"/>
                </a:lnTo>
                <a:lnTo>
                  <a:pt x="2052436" y="757638"/>
                </a:lnTo>
                <a:lnTo>
                  <a:pt x="2065256" y="758063"/>
                </a:lnTo>
                <a:lnTo>
                  <a:pt x="2077595" y="758436"/>
                </a:lnTo>
                <a:lnTo>
                  <a:pt x="2089695" y="758768"/>
                </a:lnTo>
                <a:lnTo>
                  <a:pt x="2101795" y="759067"/>
                </a:lnTo>
                <a:lnTo>
                  <a:pt x="2114138" y="759345"/>
                </a:lnTo>
                <a:lnTo>
                  <a:pt x="2126964" y="759609"/>
                </a:lnTo>
                <a:lnTo>
                  <a:pt x="2140513" y="759871"/>
                </a:lnTo>
                <a:lnTo>
                  <a:pt x="2155027" y="760139"/>
                </a:lnTo>
                <a:lnTo>
                  <a:pt x="2170748" y="760423"/>
                </a:lnTo>
                <a:lnTo>
                  <a:pt x="2187914" y="760734"/>
                </a:lnTo>
                <a:lnTo>
                  <a:pt x="2206769" y="761080"/>
                </a:lnTo>
                <a:lnTo>
                  <a:pt x="2227551" y="761472"/>
                </a:lnTo>
                <a:lnTo>
                  <a:pt x="2250503" y="761920"/>
                </a:lnTo>
                <a:lnTo>
                  <a:pt x="2274592" y="762374"/>
                </a:lnTo>
                <a:lnTo>
                  <a:pt x="2298560" y="762784"/>
                </a:lnTo>
                <a:lnTo>
                  <a:pt x="2322288" y="763152"/>
                </a:lnTo>
                <a:lnTo>
                  <a:pt x="2345656" y="763479"/>
                </a:lnTo>
                <a:lnTo>
                  <a:pt x="2368541" y="763768"/>
                </a:lnTo>
                <a:lnTo>
                  <a:pt x="2390825" y="764022"/>
                </a:lnTo>
                <a:lnTo>
                  <a:pt x="2412385" y="764243"/>
                </a:lnTo>
                <a:lnTo>
                  <a:pt x="2433103" y="764433"/>
                </a:lnTo>
                <a:lnTo>
                  <a:pt x="2452855" y="764595"/>
                </a:lnTo>
                <a:lnTo>
                  <a:pt x="2471524" y="764730"/>
                </a:lnTo>
                <a:lnTo>
                  <a:pt x="2488986" y="764841"/>
                </a:lnTo>
                <a:lnTo>
                  <a:pt x="2505123" y="764931"/>
                </a:lnTo>
                <a:lnTo>
                  <a:pt x="2519813" y="765002"/>
                </a:lnTo>
                <a:lnTo>
                  <a:pt x="2532936" y="765055"/>
                </a:lnTo>
                <a:lnTo>
                  <a:pt x="2544371" y="765094"/>
                </a:lnTo>
                <a:lnTo>
                  <a:pt x="2553997" y="765121"/>
                </a:lnTo>
                <a:lnTo>
                  <a:pt x="2561694" y="765138"/>
                </a:lnTo>
                <a:lnTo>
                  <a:pt x="2567342" y="765147"/>
                </a:lnTo>
                <a:lnTo>
                  <a:pt x="2570819" y="765151"/>
                </a:lnTo>
                <a:lnTo>
                  <a:pt x="2572004" y="765151"/>
                </a:lnTo>
                <a:lnTo>
                  <a:pt x="2572004" y="765584"/>
                </a:lnTo>
                <a:lnTo>
                  <a:pt x="2250503" y="765584"/>
                </a:lnTo>
                <a:lnTo>
                  <a:pt x="1929003" y="765584"/>
                </a:lnTo>
                <a:lnTo>
                  <a:pt x="1607502" y="765584"/>
                </a:lnTo>
                <a:lnTo>
                  <a:pt x="1286002" y="765584"/>
                </a:lnTo>
                <a:lnTo>
                  <a:pt x="964502" y="765584"/>
                </a:lnTo>
                <a:lnTo>
                  <a:pt x="643001" y="765584"/>
                </a:lnTo>
                <a:lnTo>
                  <a:pt x="321501" y="765584"/>
                </a:lnTo>
                <a:lnTo>
                  <a:pt x="0" y="765584"/>
                </a:lnTo>
                <a:close/>
              </a:path>
            </a:pathLst>
          </a:custGeom>
          <a:solidFill>
            <a:srgbClr val="C96442">
              <a:alpha val="7000"/>
            </a:srgbClr>
          </a:solidFill>
          <a:ln/>
        </p:spPr>
      </p:sp>
      <p:sp>
        <p:nvSpPr>
          <p:cNvPr id="84" name="Shape 77"/>
          <p:cNvSpPr/>
          <p:nvPr/>
        </p:nvSpPr>
        <p:spPr>
          <a:xfrm>
            <a:off x="5934110" y="3418595"/>
            <a:ext cx="2572004" cy="901916"/>
          </a:xfrm>
          <a:custGeom>
            <a:avLst/>
            <a:gdLst/>
            <a:ahLst/>
            <a:cxnLst/>
            <a:rect l="l" t="t" r="r" b="b"/>
            <a:pathLst>
              <a:path w="2572004" h="901916">
                <a:moveTo>
                  <a:pt x="0" y="0"/>
                </a:moveTo>
                <a:cubicBezTo>
                  <a:pt x="0" y="0"/>
                  <a:pt x="147081" y="162196"/>
                  <a:pt x="321501" y="284523"/>
                </a:cubicBezTo>
                <a:cubicBezTo>
                  <a:pt x="468581" y="387675"/>
                  <a:pt x="477796" y="377856"/>
                  <a:pt x="643001" y="450958"/>
                </a:cubicBezTo>
                <a:cubicBezTo>
                  <a:pt x="799296" y="520117"/>
                  <a:pt x="801802" y="515989"/>
                  <a:pt x="964502" y="569045"/>
                </a:cubicBezTo>
                <a:cubicBezTo>
                  <a:pt x="1123303" y="620831"/>
                  <a:pt x="1124236" y="618770"/>
                  <a:pt x="1286002" y="660642"/>
                </a:cubicBezTo>
                <a:cubicBezTo>
                  <a:pt x="1445736" y="701988"/>
                  <a:pt x="1446159" y="700825"/>
                  <a:pt x="1607502" y="735481"/>
                </a:cubicBezTo>
                <a:cubicBezTo>
                  <a:pt x="1767660" y="769882"/>
                  <a:pt x="1767877" y="769165"/>
                  <a:pt x="1929003" y="798757"/>
                </a:cubicBezTo>
                <a:cubicBezTo>
                  <a:pt x="2089378" y="828209"/>
                  <a:pt x="2089500" y="827738"/>
                  <a:pt x="2250503" y="853569"/>
                </a:cubicBezTo>
                <a:cubicBezTo>
                  <a:pt x="2411001" y="879318"/>
                  <a:pt x="2572004" y="901916"/>
                  <a:pt x="2572004" y="901916"/>
                </a:cubicBezTo>
              </a:path>
            </a:pathLst>
          </a:custGeom>
          <a:noFill/>
          <a:ln w="12700">
            <a:solidFill>
              <a:srgbClr val="87867F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5934110" y="3598176"/>
            <a:ext cx="2572004" cy="765151"/>
          </a:xfrm>
          <a:custGeom>
            <a:avLst/>
            <a:gdLst/>
            <a:ahLst/>
            <a:cxnLst/>
            <a:rect l="l" t="t" r="r" b="b"/>
            <a:pathLst>
              <a:path w="2572004" h="765151">
                <a:moveTo>
                  <a:pt x="0" y="0"/>
                </a:moveTo>
                <a:cubicBezTo>
                  <a:pt x="0" y="0"/>
                  <a:pt x="141359" y="196132"/>
                  <a:pt x="321501" y="342773"/>
                </a:cubicBezTo>
                <a:cubicBezTo>
                  <a:pt x="462860" y="457843"/>
                  <a:pt x="475432" y="448522"/>
                  <a:pt x="643001" y="523423"/>
                </a:cubicBezTo>
                <a:cubicBezTo>
                  <a:pt x="796932" y="592226"/>
                  <a:pt x="801123" y="586724"/>
                  <a:pt x="964502" y="630181"/>
                </a:cubicBezTo>
                <a:cubicBezTo>
                  <a:pt x="1122623" y="672239"/>
                  <a:pt x="1124223" y="668826"/>
                  <a:pt x="1286002" y="694453"/>
                </a:cubicBezTo>
                <a:cubicBezTo>
                  <a:pt x="1445723" y="719753"/>
                  <a:pt x="1446368" y="717511"/>
                  <a:pt x="1607502" y="732034"/>
                </a:cubicBezTo>
                <a:cubicBezTo>
                  <a:pt x="1767869" y="746488"/>
                  <a:pt x="1768127" y="744930"/>
                  <a:pt x="1929003" y="752407"/>
                </a:cubicBezTo>
                <a:cubicBezTo>
                  <a:pt x="2089628" y="759872"/>
                  <a:pt x="2089723" y="758733"/>
                  <a:pt x="2250503" y="761920"/>
                </a:cubicBezTo>
                <a:cubicBezTo>
                  <a:pt x="2411223" y="765105"/>
                  <a:pt x="2572004" y="765151"/>
                  <a:pt x="2572004" y="765151"/>
                </a:cubicBezTo>
              </a:path>
            </a:pathLst>
          </a:custGeom>
          <a:noFill/>
          <a:ln w="12700">
            <a:solidFill>
              <a:srgbClr val="C96442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5919823" y="3404308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6241323" y="3688830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6562824" y="3855265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6884325" y="3973353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7205825" y="4064949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7527325" y="4139789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7848826" y="4203065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170326" y="4257876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8491827" y="4306224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87867F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5919823" y="3583889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6241323" y="3926661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6562824" y="4107311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6884325" y="4214070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7205825" y="4278341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7527325" y="4315923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7848826" y="4336296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8170326" y="4345808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8491827" y="4349040"/>
            <a:ext cx="28575" cy="28575"/>
          </a:xfrm>
          <a:prstGeom prst="ellipse">
            <a:avLst/>
          </a:prstGeom>
          <a:solidFill>
            <a:srgbClr val="FFFFFF"/>
          </a:solidFill>
          <a:ln w="6350">
            <a:solidFill>
              <a:srgbClr val="C96442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6293699" y="3021806"/>
            <a:ext cx="1608795" cy="165735"/>
          </a:xfrm>
          <a:custGeom>
            <a:avLst/>
            <a:gdLst/>
            <a:ahLst/>
            <a:cxnLst/>
            <a:rect l="l" t="t" r="r" b="b"/>
            <a:pathLst>
              <a:path w="1608795" h="165735">
                <a:moveTo>
                  <a:pt x="0" y="0"/>
                </a:moveTo>
                <a:lnTo>
                  <a:pt x="1608795" y="0"/>
                </a:lnTo>
                <a:lnTo>
                  <a:pt x="1608795" y="165735"/>
                </a:lnTo>
                <a:lnTo>
                  <a:pt x="0" y="165735"/>
                </a:lnTo>
                <a:close/>
              </a:path>
            </a:pathLst>
          </a:custGeom>
          <a:noFill/>
          <a:ln/>
        </p:spPr>
      </p:sp>
      <p:sp>
        <p:nvSpPr>
          <p:cNvPr id="105" name="Shape 98"/>
          <p:cNvSpPr/>
          <p:nvPr/>
        </p:nvSpPr>
        <p:spPr>
          <a:xfrm>
            <a:off x="6336562" y="3104674"/>
            <a:ext cx="178594" cy="0"/>
          </a:xfrm>
          <a:prstGeom prst="line">
            <a:avLst/>
          </a:prstGeom>
          <a:noFill/>
          <a:ln w="12700">
            <a:solidFill>
              <a:srgbClr val="87867F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6385854" y="3064669"/>
            <a:ext cx="80010" cy="800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7867F"/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6550874" y="3033236"/>
            <a:ext cx="1575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Entropy</a:t>
            </a:r>
            <a:endParaRPr lang="en-US" sz="563" dirty="0"/>
          </a:p>
        </p:txBody>
      </p:sp>
      <p:sp>
        <p:nvSpPr>
          <p:cNvPr id="108" name="Shape 101"/>
          <p:cNvSpPr/>
          <p:nvPr/>
        </p:nvSpPr>
        <p:spPr>
          <a:xfrm>
            <a:off x="7101230" y="3104674"/>
            <a:ext cx="178594" cy="0"/>
          </a:xfrm>
          <a:prstGeom prst="line">
            <a:avLst/>
          </a:prstGeom>
          <a:noFill/>
          <a:ln w="12700">
            <a:solidFill>
              <a:srgbClr val="C96442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7150521" y="3064669"/>
            <a:ext cx="80010" cy="800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110" name="Text 103"/>
          <p:cNvSpPr/>
          <p:nvPr/>
        </p:nvSpPr>
        <p:spPr>
          <a:xfrm>
            <a:off x="7315542" y="3033236"/>
            <a:ext cx="18973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Loss (γ=2)</a:t>
            </a:r>
            <a:endParaRPr lang="en-US" sz="563" dirty="0"/>
          </a:p>
        </p:txBody>
      </p:sp>
      <p:sp>
        <p:nvSpPr>
          <p:cNvPr id="111" name="Shape 104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112" name="Text 105"/>
          <p:cNvSpPr/>
          <p:nvPr/>
        </p:nvSpPr>
        <p:spPr>
          <a:xfrm>
            <a:off x="215205" y="4775597"/>
            <a:ext cx="1550194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ICU项目 · Focal Loss与Macro-F1应对类别不平衡</a:t>
            </a:r>
            <a:endParaRPr lang="en-US" sz="500" dirty="0"/>
          </a:p>
        </p:txBody>
      </p:sp>
      <p:sp>
        <p:nvSpPr>
          <p:cNvPr id="113" name="Text 106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/ 12</a:t>
            </a:r>
            <a:endParaRPr lang="en-US" sz="500" dirty="0"/>
          </a:p>
        </p:txBody>
      </p:sp>
      <p:pic>
        <p:nvPicPr>
          <p:cNvPr id="114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3754" y="271407"/>
            <a:ext cx="3000375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无需重训练的交互式LLM反馈闭环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754" y="477850"/>
            <a:ext cx="30003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Feedback Loop: Natural Language to Graph Modification via HNSW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700088"/>
            <a:ext cx="2114550" cy="400050"/>
          </a:xfrm>
          <a:prstGeom prst="roundRect">
            <a:avLst>
              <a:gd name="adj" fmla="val 8163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5750" y="771525"/>
            <a:ext cx="257175" cy="257175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563" y="864394"/>
            <a:ext cx="71438" cy="71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7311" y="798984"/>
            <a:ext cx="492919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反馈输入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28650" y="914344"/>
            <a:ext cx="628650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医生自然语言反馈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414588" y="700088"/>
            <a:ext cx="2114550" cy="400050"/>
          </a:xfrm>
          <a:prstGeom prst="roundRect">
            <a:avLst>
              <a:gd name="adj" fmla="val 8163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86025" y="771525"/>
            <a:ext cx="257175" cy="257175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838" y="864394"/>
            <a:ext cx="71438" cy="714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28590" y="798984"/>
            <a:ext cx="4857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LLM拆解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827139" y="914344"/>
            <a:ext cx="964406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LLM提取add/remove关键词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4614862" y="700088"/>
            <a:ext cx="2114550" cy="400050"/>
          </a:xfrm>
          <a:prstGeom prst="roundRect">
            <a:avLst>
              <a:gd name="adj" fmla="val 8163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86300" y="771525"/>
            <a:ext cx="257175" cy="257175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13" y="864394"/>
            <a:ext cx="71438" cy="714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8140" y="798984"/>
            <a:ext cx="111442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Embedding+HNSW映射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5028140" y="914344"/>
            <a:ext cx="111442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余弦相似度匹配cluster节点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6815138" y="700088"/>
            <a:ext cx="2114550" cy="400050"/>
          </a:xfrm>
          <a:prstGeom prst="roundRect">
            <a:avLst>
              <a:gd name="adj" fmla="val 8163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86575" y="771525"/>
            <a:ext cx="257175" cy="257175"/>
          </a:xfrm>
          <a:prstGeom prst="ellipse">
            <a:avLst/>
          </a:prstGeom>
          <a:solidFill>
            <a:srgbClr val="C9644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9388" y="864394"/>
            <a:ext cx="71438" cy="714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30256" y="798984"/>
            <a:ext cx="914400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动态增删+二次推理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7230256" y="914344"/>
            <a:ext cx="914400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修改子图触发重新推理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214313" y="1185863"/>
            <a:ext cx="8715375" cy="3529013"/>
          </a:xfrm>
          <a:prstGeom prst="roundRect">
            <a:avLst>
              <a:gd name="adj" fmla="val 42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71475" y="1950244"/>
            <a:ext cx="1143000" cy="357188"/>
          </a:xfrm>
          <a:prstGeom prst="rect">
            <a:avLst>
              <a:gd name="adj" fmla="val 12800"/>
            </a:avLst>
          </a:prstGeom>
          <a:solidFill>
            <a:srgbClr val="F5F4ED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155019" y="2021681"/>
            <a:ext cx="15759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"患者有心衰，补充利尿剂，</a:t>
            </a:r>
            <a:endParaRPr lang="en-US" sz="563" dirty="0"/>
          </a:p>
        </p:txBody>
      </p:sp>
      <p:sp>
        <p:nvSpPr>
          <p:cNvPr id="30" name="Text 24"/>
          <p:cNvSpPr/>
          <p:nvPr/>
        </p:nvSpPr>
        <p:spPr>
          <a:xfrm>
            <a:off x="369332" y="2128838"/>
            <a:ext cx="11472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停用阿片类镇痛药"</a:t>
            </a:r>
            <a:endParaRPr lang="en-US" sz="563" dirty="0"/>
          </a:p>
        </p:txBody>
      </p:sp>
      <p:sp>
        <p:nvSpPr>
          <p:cNvPr id="31" name="Shape 25"/>
          <p:cNvSpPr/>
          <p:nvPr/>
        </p:nvSpPr>
        <p:spPr>
          <a:xfrm>
            <a:off x="442913" y="2414588"/>
            <a:ext cx="1000125" cy="428625"/>
          </a:xfrm>
          <a:prstGeom prst="rect">
            <a:avLst>
              <a:gd name="adj" fmla="val 15238"/>
            </a:avLst>
          </a:prstGeom>
          <a:solidFill>
            <a:srgbClr val="C96442"/>
          </a:solidFill>
          <a:ln/>
        </p:spPr>
      </p:sp>
      <p:sp>
        <p:nvSpPr>
          <p:cNvPr id="32" name="Text 26"/>
          <p:cNvSpPr/>
          <p:nvPr/>
        </p:nvSpPr>
        <p:spPr>
          <a:xfrm>
            <a:off x="551498" y="2507456"/>
            <a:ext cx="78295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医生反馈</a:t>
            </a:r>
            <a:endParaRPr lang="en-US" sz="788" dirty="0"/>
          </a:p>
        </p:txBody>
      </p:sp>
      <p:sp>
        <p:nvSpPr>
          <p:cNvPr id="33" name="Text 27"/>
          <p:cNvSpPr/>
          <p:nvPr/>
        </p:nvSpPr>
        <p:spPr>
          <a:xfrm>
            <a:off x="497919" y="2657475"/>
            <a:ext cx="890111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自然语言输入</a:t>
            </a:r>
            <a:endParaRPr lang="en-US" sz="619" dirty="0"/>
          </a:p>
        </p:txBody>
      </p:sp>
      <p:sp>
        <p:nvSpPr>
          <p:cNvPr id="34" name="Shape 28"/>
          <p:cNvSpPr/>
          <p:nvPr/>
        </p:nvSpPr>
        <p:spPr>
          <a:xfrm>
            <a:off x="1443038" y="2628900"/>
            <a:ext cx="357188" cy="0"/>
          </a:xfrm>
          <a:prstGeom prst="line">
            <a:avLst/>
          </a:prstGeom>
          <a:noFill/>
          <a:ln w="12700">
            <a:solidFill>
              <a:srgbClr val="C96442"/>
            </a:solidFill>
            <a:prstDash val="solid"/>
            <a:tailEnd type="arrow"/>
          </a:ln>
        </p:spPr>
      </p:sp>
      <p:sp>
        <p:nvSpPr>
          <p:cNvPr id="35" name="Shape 29"/>
          <p:cNvSpPr/>
          <p:nvPr/>
        </p:nvSpPr>
        <p:spPr>
          <a:xfrm>
            <a:off x="1835944" y="2235994"/>
            <a:ext cx="1071563" cy="571500"/>
          </a:xfrm>
          <a:prstGeom prst="rect">
            <a:avLst>
              <a:gd name="adj" fmla="val 10667"/>
            </a:avLst>
          </a:prstGeom>
          <a:solidFill>
            <a:srgbClr val="141413"/>
          </a:solidFill>
          <a:ln/>
        </p:spPr>
      </p:sp>
      <p:sp>
        <p:nvSpPr>
          <p:cNvPr id="36" name="Text 30"/>
          <p:cNvSpPr/>
          <p:nvPr/>
        </p:nvSpPr>
        <p:spPr>
          <a:xfrm>
            <a:off x="2055257" y="2350294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788" dirty="0"/>
          </a:p>
        </p:txBody>
      </p:sp>
      <p:sp>
        <p:nvSpPr>
          <p:cNvPr id="37" name="Text 31"/>
          <p:cNvSpPr/>
          <p:nvPr/>
        </p:nvSpPr>
        <p:spPr>
          <a:xfrm>
            <a:off x="1455182" y="2514600"/>
            <a:ext cx="1833086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Prompt:</a:t>
            </a:r>
            <a:endParaRPr lang="en-US" sz="619" dirty="0"/>
          </a:p>
        </p:txBody>
      </p:sp>
      <p:sp>
        <p:nvSpPr>
          <p:cNvPr id="38" name="Text 32"/>
          <p:cNvSpPr/>
          <p:nvPr/>
        </p:nvSpPr>
        <p:spPr>
          <a:xfrm>
            <a:off x="1423035" y="2628900"/>
            <a:ext cx="18973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拆分为add/remove关键词</a:t>
            </a:r>
            <a:endParaRPr lang="en-US" sz="563" dirty="0"/>
          </a:p>
        </p:txBody>
      </p:sp>
      <p:sp>
        <p:nvSpPr>
          <p:cNvPr id="39" name="Shape 33"/>
          <p:cNvSpPr/>
          <p:nvPr/>
        </p:nvSpPr>
        <p:spPr>
          <a:xfrm>
            <a:off x="1871663" y="2914650"/>
            <a:ext cx="1000125" cy="392906"/>
          </a:xfrm>
          <a:prstGeom prst="rect">
            <a:avLst>
              <a:gd name="adj" fmla="val 9974"/>
            </a:avLst>
          </a:prstGeom>
          <a:solidFill>
            <a:srgbClr val="30302E"/>
          </a:solidFill>
          <a:ln/>
        </p:spPr>
      </p:sp>
      <p:sp>
        <p:nvSpPr>
          <p:cNvPr id="40" name="Text 34"/>
          <p:cNvSpPr/>
          <p:nvPr/>
        </p:nvSpPr>
        <p:spPr>
          <a:xfrm>
            <a:off x="1369457" y="2971800"/>
            <a:ext cx="20045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["心衰","利尿剂"]</a:t>
            </a:r>
            <a:endParaRPr lang="en-US" sz="563" dirty="0"/>
          </a:p>
        </p:txBody>
      </p:sp>
      <p:sp>
        <p:nvSpPr>
          <p:cNvPr id="41" name="Text 35"/>
          <p:cNvSpPr/>
          <p:nvPr/>
        </p:nvSpPr>
        <p:spPr>
          <a:xfrm>
            <a:off x="1476613" y="3093244"/>
            <a:ext cx="17902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remove: ["阿片类"]</a:t>
            </a:r>
            <a:endParaRPr lang="en-US" sz="563" dirty="0"/>
          </a:p>
        </p:txBody>
      </p:sp>
      <p:sp>
        <p:nvSpPr>
          <p:cNvPr id="42" name="Text 36"/>
          <p:cNvSpPr/>
          <p:nvPr/>
        </p:nvSpPr>
        <p:spPr>
          <a:xfrm>
            <a:off x="1990963" y="3193256"/>
            <a:ext cx="761524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JSON输出</a:t>
            </a:r>
            <a:endParaRPr lang="en-US" sz="506" dirty="0"/>
          </a:p>
        </p:txBody>
      </p:sp>
      <p:sp>
        <p:nvSpPr>
          <p:cNvPr id="43" name="Shape 37"/>
          <p:cNvSpPr/>
          <p:nvPr/>
        </p:nvSpPr>
        <p:spPr>
          <a:xfrm>
            <a:off x="2907506" y="2521744"/>
            <a:ext cx="357188" cy="0"/>
          </a:xfrm>
          <a:prstGeom prst="line">
            <a:avLst/>
          </a:prstGeom>
          <a:noFill/>
          <a:ln w="12700">
            <a:solidFill>
              <a:srgbClr val="87867F"/>
            </a:solidFill>
            <a:prstDash val="solid"/>
            <a:tailEnd type="arrow"/>
          </a:ln>
        </p:spPr>
      </p:sp>
      <p:sp>
        <p:nvSpPr>
          <p:cNvPr id="44" name="Shape 38"/>
          <p:cNvSpPr/>
          <p:nvPr/>
        </p:nvSpPr>
        <p:spPr>
          <a:xfrm>
            <a:off x="3300413" y="2093119"/>
            <a:ext cx="1214438" cy="857250"/>
          </a:xfrm>
          <a:prstGeom prst="rect">
            <a:avLst>
              <a:gd name="adj" fmla="val 6275"/>
            </a:avLst>
          </a:prstGeom>
          <a:solidFill>
            <a:srgbClr val="FAF9F5"/>
          </a:solidFill>
          <a:ln w="9525">
            <a:solidFill>
              <a:srgbClr val="E8E6DC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841069" y="2178844"/>
            <a:ext cx="2133124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1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+ 排序</a:t>
            </a:r>
            <a:endParaRPr lang="en-US" sz="731" dirty="0"/>
          </a:p>
        </p:txBody>
      </p:sp>
      <p:sp>
        <p:nvSpPr>
          <p:cNvPr id="46" name="Shape 40"/>
          <p:cNvSpPr/>
          <p:nvPr/>
        </p:nvSpPr>
        <p:spPr>
          <a:xfrm>
            <a:off x="3443288" y="2343150"/>
            <a:ext cx="928688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2755344" y="2393156"/>
            <a:ext cx="2304574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关键词 → embedding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2696408" y="2514600"/>
            <a:ext cx="2422446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反馈文本 → embedding</a:t>
            </a:r>
            <a:endParaRPr lang="en-US" sz="619" dirty="0"/>
          </a:p>
        </p:txBody>
      </p:sp>
      <p:sp>
        <p:nvSpPr>
          <p:cNvPr id="49" name="Text 43"/>
          <p:cNvSpPr/>
          <p:nvPr/>
        </p:nvSpPr>
        <p:spPr>
          <a:xfrm>
            <a:off x="3226832" y="2636044"/>
            <a:ext cx="1361599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余弦相似度排序</a:t>
            </a:r>
            <a:endParaRPr lang="en-US" sz="619" dirty="0"/>
          </a:p>
        </p:txBody>
      </p:sp>
      <p:sp>
        <p:nvSpPr>
          <p:cNvPr id="50" name="Text 44"/>
          <p:cNvSpPr/>
          <p:nvPr/>
        </p:nvSpPr>
        <p:spPr>
          <a:xfrm>
            <a:off x="3280410" y="2764631"/>
            <a:ext cx="1254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截断去重</a:t>
            </a:r>
            <a:endParaRPr lang="en-US" sz="563" dirty="0"/>
          </a:p>
        </p:txBody>
      </p:sp>
      <p:sp>
        <p:nvSpPr>
          <p:cNvPr id="51" name="Shape 45"/>
          <p:cNvSpPr/>
          <p:nvPr/>
        </p:nvSpPr>
        <p:spPr>
          <a:xfrm>
            <a:off x="4514850" y="2521744"/>
            <a:ext cx="357188" cy="0"/>
          </a:xfrm>
          <a:prstGeom prst="line">
            <a:avLst/>
          </a:prstGeom>
          <a:noFill/>
          <a:ln w="12700">
            <a:solidFill>
              <a:srgbClr val="87867F"/>
            </a:solidFill>
            <a:prstDash val="solid"/>
            <a:tailEnd type="arrow"/>
          </a:ln>
        </p:spPr>
      </p:sp>
      <p:sp>
        <p:nvSpPr>
          <p:cNvPr id="52" name="Shape 46"/>
          <p:cNvSpPr/>
          <p:nvPr/>
        </p:nvSpPr>
        <p:spPr>
          <a:xfrm>
            <a:off x="4907756" y="2093119"/>
            <a:ext cx="1214438" cy="857250"/>
          </a:xfrm>
          <a:prstGeom prst="rect">
            <a:avLst>
              <a:gd name="adj" fmla="val 6275"/>
            </a:avLst>
          </a:prstGeom>
          <a:solidFill>
            <a:srgbClr val="141413"/>
          </a:solidFill>
          <a:ln/>
        </p:spPr>
      </p:sp>
      <p:sp>
        <p:nvSpPr>
          <p:cNvPr id="53" name="Text 47"/>
          <p:cNvSpPr/>
          <p:nvPr/>
        </p:nvSpPr>
        <p:spPr>
          <a:xfrm>
            <a:off x="4935974" y="2178844"/>
            <a:ext cx="1158002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1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映射</a:t>
            </a:r>
            <a:endParaRPr lang="en-US" sz="731" dirty="0"/>
          </a:p>
        </p:txBody>
      </p:sp>
      <p:sp>
        <p:nvSpPr>
          <p:cNvPr id="54" name="Shape 48"/>
          <p:cNvSpPr/>
          <p:nvPr/>
        </p:nvSpPr>
        <p:spPr>
          <a:xfrm>
            <a:off x="5050631" y="2343150"/>
            <a:ext cx="928688" cy="0"/>
          </a:xfrm>
          <a:prstGeom prst="line">
            <a:avLst/>
          </a:prstGeom>
          <a:noFill/>
          <a:ln w="6350">
            <a:solidFill>
              <a:srgbClr val="30302E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4185880" y="2393156"/>
            <a:ext cx="2658189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embeddings 索引</a:t>
            </a:r>
            <a:endParaRPr lang="en-US" sz="619" dirty="0"/>
          </a:p>
        </p:txBody>
      </p:sp>
      <p:sp>
        <p:nvSpPr>
          <p:cNvPr id="56" name="Text 50"/>
          <p:cNvSpPr/>
          <p:nvPr/>
        </p:nvSpPr>
        <p:spPr>
          <a:xfrm>
            <a:off x="5010983" y="2514600"/>
            <a:ext cx="1007983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近似最近邻搜索</a:t>
            </a:r>
            <a:endParaRPr lang="en-US" sz="619" dirty="0"/>
          </a:p>
        </p:txBody>
      </p:sp>
      <p:sp>
        <p:nvSpPr>
          <p:cNvPr id="57" name="Text 51"/>
          <p:cNvSpPr/>
          <p:nvPr/>
        </p:nvSpPr>
        <p:spPr>
          <a:xfrm>
            <a:off x="4598432" y="2636044"/>
            <a:ext cx="1833086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 vs cluster</a:t>
            </a:r>
            <a:endParaRPr lang="en-US" sz="619" dirty="0"/>
          </a:p>
        </p:txBody>
      </p:sp>
      <p:sp>
        <p:nvSpPr>
          <p:cNvPr id="58" name="Text 52"/>
          <p:cNvSpPr/>
          <p:nvPr/>
        </p:nvSpPr>
        <p:spPr>
          <a:xfrm>
            <a:off x="4566285" y="2764631"/>
            <a:ext cx="18973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cluster index</a:t>
            </a:r>
            <a:endParaRPr lang="en-US" sz="563" dirty="0"/>
          </a:p>
        </p:txBody>
      </p:sp>
      <p:sp>
        <p:nvSpPr>
          <p:cNvPr id="59" name="Shape 53"/>
          <p:cNvSpPr/>
          <p:nvPr/>
        </p:nvSpPr>
        <p:spPr>
          <a:xfrm>
            <a:off x="5014913" y="3057525"/>
            <a:ext cx="1000125" cy="285750"/>
          </a:xfrm>
          <a:prstGeom prst="rect">
            <a:avLst>
              <a:gd name="adj" fmla="val 13714"/>
            </a:avLst>
          </a:prstGeom>
          <a:solidFill>
            <a:srgbClr val="30302E"/>
          </a:solidFill>
          <a:ln/>
        </p:spPr>
      </p:sp>
      <p:sp>
        <p:nvSpPr>
          <p:cNvPr id="60" name="Text 54"/>
          <p:cNvSpPr/>
          <p:nvPr/>
        </p:nvSpPr>
        <p:spPr>
          <a:xfrm>
            <a:off x="4405551" y="3114675"/>
            <a:ext cx="22188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add: [3, 7, 12, 18]</a:t>
            </a:r>
            <a:endParaRPr lang="en-US" sz="563" dirty="0"/>
          </a:p>
        </p:txBody>
      </p:sp>
      <p:sp>
        <p:nvSpPr>
          <p:cNvPr id="61" name="Text 55"/>
          <p:cNvSpPr/>
          <p:nvPr/>
        </p:nvSpPr>
        <p:spPr>
          <a:xfrm>
            <a:off x="4673441" y="3221831"/>
            <a:ext cx="1683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b="1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remove: [5, 9]</a:t>
            </a:r>
            <a:endParaRPr lang="en-US" sz="563" dirty="0"/>
          </a:p>
        </p:txBody>
      </p:sp>
      <p:sp>
        <p:nvSpPr>
          <p:cNvPr id="62" name="Shape 56"/>
          <p:cNvSpPr/>
          <p:nvPr/>
        </p:nvSpPr>
        <p:spPr>
          <a:xfrm>
            <a:off x="6122194" y="2521744"/>
            <a:ext cx="357188" cy="0"/>
          </a:xfrm>
          <a:prstGeom prst="line">
            <a:avLst/>
          </a:prstGeom>
          <a:noFill/>
          <a:ln w="12700">
            <a:solidFill>
              <a:srgbClr val="C96442"/>
            </a:solidFill>
            <a:prstDash val="solid"/>
            <a:tailEnd type="arrow"/>
          </a:ln>
        </p:spPr>
      </p:sp>
      <p:sp>
        <p:nvSpPr>
          <p:cNvPr id="63" name="Shape 57"/>
          <p:cNvSpPr/>
          <p:nvPr/>
        </p:nvSpPr>
        <p:spPr>
          <a:xfrm>
            <a:off x="6515100" y="2021681"/>
            <a:ext cx="1143000" cy="1000125"/>
          </a:xfrm>
          <a:prstGeom prst="rect">
            <a:avLst>
              <a:gd name="adj" fmla="val 5714"/>
            </a:avLst>
          </a:prstGeom>
          <a:solidFill>
            <a:srgbClr val="FAF9F5"/>
          </a:solidFill>
          <a:ln w="12700">
            <a:solidFill>
              <a:srgbClr val="C96442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6716554" y="2107406"/>
            <a:ext cx="740093" cy="11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1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子图修改</a:t>
            </a:r>
            <a:endParaRPr lang="en-US" sz="731" dirty="0"/>
          </a:p>
        </p:txBody>
      </p:sp>
      <p:sp>
        <p:nvSpPr>
          <p:cNvPr id="65" name="Shape 59"/>
          <p:cNvSpPr/>
          <p:nvPr/>
        </p:nvSpPr>
        <p:spPr>
          <a:xfrm>
            <a:off x="6622256" y="2271713"/>
            <a:ext cx="928688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5993249" y="2336006"/>
            <a:ext cx="2186702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ehr_nodes one-hot</a:t>
            </a:r>
            <a:endParaRPr lang="en-US" sz="619" dirty="0"/>
          </a:p>
        </p:txBody>
      </p:sp>
      <p:sp>
        <p:nvSpPr>
          <p:cNvPr id="67" name="Text 61"/>
          <p:cNvSpPr/>
          <p:nvPr/>
        </p:nvSpPr>
        <p:spPr>
          <a:xfrm>
            <a:off x="6641544" y="2457450"/>
            <a:ext cx="890111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动态增删节点</a:t>
            </a:r>
            <a:endParaRPr lang="en-US" sz="619" dirty="0"/>
          </a:p>
        </p:txBody>
      </p:sp>
      <p:sp>
        <p:nvSpPr>
          <p:cNvPr id="68" name="Text 62"/>
          <p:cNvSpPr/>
          <p:nvPr/>
        </p:nvSpPr>
        <p:spPr>
          <a:xfrm>
            <a:off x="6641544" y="2600325"/>
            <a:ext cx="890111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触发二次推理</a:t>
            </a:r>
            <a:endParaRPr lang="en-US" sz="619" dirty="0"/>
          </a:p>
        </p:txBody>
      </p:sp>
      <p:sp>
        <p:nvSpPr>
          <p:cNvPr id="69" name="Text 63"/>
          <p:cNvSpPr/>
          <p:nvPr/>
        </p:nvSpPr>
        <p:spPr>
          <a:xfrm>
            <a:off x="6673691" y="2736056"/>
            <a:ext cx="8258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无需重新训练</a:t>
            </a:r>
            <a:endParaRPr lang="en-US" sz="563" dirty="0"/>
          </a:p>
        </p:txBody>
      </p:sp>
      <p:sp>
        <p:nvSpPr>
          <p:cNvPr id="70" name="Text 64"/>
          <p:cNvSpPr/>
          <p:nvPr/>
        </p:nvSpPr>
        <p:spPr>
          <a:xfrm>
            <a:off x="6566535" y="2843213"/>
            <a:ext cx="10401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更新预测结果</a:t>
            </a:r>
            <a:endParaRPr lang="en-US" sz="563" dirty="0"/>
          </a:p>
        </p:txBody>
      </p:sp>
      <p:sp>
        <p:nvSpPr>
          <p:cNvPr id="71" name="Shape 65"/>
          <p:cNvSpPr/>
          <p:nvPr/>
        </p:nvSpPr>
        <p:spPr>
          <a:xfrm>
            <a:off x="942975" y="2843213"/>
            <a:ext cx="6143625" cy="892969"/>
          </a:xfrm>
          <a:custGeom>
            <a:avLst/>
            <a:gdLst/>
            <a:ahLst/>
            <a:cxnLst/>
            <a:rect l="l" t="t" r="r" b="b"/>
            <a:pathLst>
              <a:path w="6143625" h="892969">
                <a:moveTo>
                  <a:pt x="6143625" y="178594"/>
                </a:moveTo>
                <a:quadBezTo>
                  <a:pt x="6143625" y="892969"/>
                  <a:pt x="3500438" y="892969"/>
                </a:quadBezTo>
                <a:quadBezTo>
                  <a:pt x="0" y="892969"/>
                  <a:pt x="0" y="0"/>
                </a:quadBezTo>
              </a:path>
            </a:pathLst>
          </a:custGeom>
          <a:noFill/>
          <a:ln w="12700">
            <a:solidFill>
              <a:srgbClr val="D97757"/>
            </a:solidFill>
            <a:prstDash val="solid"/>
            <a:tailEnd type="arrow"/>
          </a:ln>
        </p:spPr>
      </p:sp>
      <p:sp>
        <p:nvSpPr>
          <p:cNvPr id="72" name="Shape 66"/>
          <p:cNvSpPr/>
          <p:nvPr/>
        </p:nvSpPr>
        <p:spPr>
          <a:xfrm>
            <a:off x="3371850" y="3650456"/>
            <a:ext cx="1428750" cy="171450"/>
          </a:xfrm>
          <a:prstGeom prst="rect">
            <a:avLst>
              <a:gd name="adj" fmla="val 16000"/>
            </a:avLst>
          </a:prstGeom>
          <a:solidFill>
            <a:srgbClr val="F5F4ED"/>
          </a:solidFill>
          <a:ln w="6350">
            <a:solidFill>
              <a:srgbClr val="E8E6DC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3051810" y="3686175"/>
            <a:ext cx="2068830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交互式闭环：更新结果返回医生</a:t>
            </a:r>
            <a:endParaRPr lang="en-US" sz="619" dirty="0"/>
          </a:p>
        </p:txBody>
      </p:sp>
      <p:sp>
        <p:nvSpPr>
          <p:cNvPr id="74" name="Shape 68"/>
          <p:cNvSpPr/>
          <p:nvPr/>
        </p:nvSpPr>
        <p:spPr>
          <a:xfrm>
            <a:off x="442913" y="3950494"/>
            <a:ext cx="7215188" cy="171450"/>
          </a:xfrm>
          <a:prstGeom prst="rect">
            <a:avLst>
              <a:gd name="adj" fmla="val 3168"/>
            </a:avLst>
          </a:prstGeom>
          <a:solidFill>
            <a:srgbClr val="C96442"/>
          </a:solidFill>
          <a:ln/>
        </p:spPr>
      </p:sp>
      <p:sp>
        <p:nvSpPr>
          <p:cNvPr id="75" name="Text 69"/>
          <p:cNvSpPr/>
          <p:nvPr/>
        </p:nvSpPr>
        <p:spPr>
          <a:xfrm>
            <a:off x="69294" y="3986213"/>
            <a:ext cx="7962424" cy="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19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核心优势：LLM解析自然语言 → Embedding语义匹配 → HNSW低延迟检索 → 动态图结构修改 → 无需重训练的交互式响应</a:t>
            </a:r>
            <a:endParaRPr lang="en-US" sz="619" dirty="0"/>
          </a:p>
        </p:txBody>
      </p:sp>
      <p:sp>
        <p:nvSpPr>
          <p:cNvPr id="76" name="Shape 70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77" name="Text 71"/>
          <p:cNvSpPr/>
          <p:nvPr/>
        </p:nvSpPr>
        <p:spPr>
          <a:xfrm>
            <a:off x="212750" y="4775597"/>
            <a:ext cx="757237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ICU项目 · LLM反馈闭环</a:t>
            </a:r>
            <a:endParaRPr lang="en-US" sz="500" dirty="0"/>
          </a:p>
        </p:txBody>
      </p:sp>
      <p:sp>
        <p:nvSpPr>
          <p:cNvPr id="78" name="Text 72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/ 12</a:t>
            </a:r>
            <a:endParaRPr lang="en-US" sz="500" dirty="0"/>
          </a:p>
        </p:txBody>
      </p:sp>
      <p:pic>
        <p:nvPicPr>
          <p:cNvPr id="79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3196" y="271407"/>
            <a:ext cx="5500687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双任务全面超越基线：药物推荐与心源性休克预测均优于RNN/GIN/GAT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196" y="477850"/>
            <a:ext cx="5500687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Results: Ours Outperforms All Baselines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700869"/>
            <a:ext cx="4300538" cy="3364706"/>
          </a:xfrm>
          <a:prstGeom prst="roundRect">
            <a:avLst>
              <a:gd name="adj" fmla="val 462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200" y="810816"/>
            <a:ext cx="71438" cy="71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7844" y="785813"/>
            <a:ext cx="1057275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药物推荐（DrugRec）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712946" y="3582591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2946" y="3203972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2946" y="2818209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12946" y="2432447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2946" y="2053828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2946" y="1668066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2946" y="1482328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2946" y="3582591"/>
            <a:ext cx="3509724" cy="0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7947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882378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53953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25528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3594" y="3518154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506" dirty="0"/>
          </a:p>
        </p:txBody>
      </p:sp>
      <p:sp>
        <p:nvSpPr>
          <p:cNvPr id="23" name="Text 20"/>
          <p:cNvSpPr/>
          <p:nvPr/>
        </p:nvSpPr>
        <p:spPr>
          <a:xfrm>
            <a:off x="183594" y="3135379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506" dirty="0"/>
          </a:p>
        </p:txBody>
      </p:sp>
      <p:sp>
        <p:nvSpPr>
          <p:cNvPr id="24" name="Text 21"/>
          <p:cNvSpPr/>
          <p:nvPr/>
        </p:nvSpPr>
        <p:spPr>
          <a:xfrm>
            <a:off x="183594" y="2752604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506" dirty="0"/>
          </a:p>
        </p:txBody>
      </p:sp>
      <p:sp>
        <p:nvSpPr>
          <p:cNvPr id="25" name="Text 22"/>
          <p:cNvSpPr/>
          <p:nvPr/>
        </p:nvSpPr>
        <p:spPr>
          <a:xfrm>
            <a:off x="183594" y="2369828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</a:t>
            </a:r>
            <a:endParaRPr lang="en-US" sz="506" dirty="0"/>
          </a:p>
        </p:txBody>
      </p:sp>
      <p:sp>
        <p:nvSpPr>
          <p:cNvPr id="26" name="Text 23"/>
          <p:cNvSpPr/>
          <p:nvPr/>
        </p:nvSpPr>
        <p:spPr>
          <a:xfrm>
            <a:off x="183594" y="198705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506" dirty="0"/>
          </a:p>
        </p:txBody>
      </p:sp>
      <p:sp>
        <p:nvSpPr>
          <p:cNvPr id="27" name="Text 24"/>
          <p:cNvSpPr/>
          <p:nvPr/>
        </p:nvSpPr>
        <p:spPr>
          <a:xfrm>
            <a:off x="183594" y="1604278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</a:t>
            </a:r>
            <a:endParaRPr lang="en-US" sz="506" dirty="0"/>
          </a:p>
        </p:txBody>
      </p:sp>
      <p:sp>
        <p:nvSpPr>
          <p:cNvPr id="28" name="Text 25"/>
          <p:cNvSpPr/>
          <p:nvPr/>
        </p:nvSpPr>
        <p:spPr>
          <a:xfrm>
            <a:off x="87154" y="1412891"/>
            <a:ext cx="568643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506" dirty="0"/>
          </a:p>
        </p:txBody>
      </p:sp>
      <p:sp>
        <p:nvSpPr>
          <p:cNvPr id="29" name="Text 26"/>
          <p:cNvSpPr/>
          <p:nvPr/>
        </p:nvSpPr>
        <p:spPr>
          <a:xfrm>
            <a:off x="938569" y="3603879"/>
            <a:ext cx="718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</a:t>
            </a:r>
            <a:endParaRPr lang="en-US" sz="563" dirty="0"/>
          </a:p>
        </p:txBody>
      </p:sp>
      <p:sp>
        <p:nvSpPr>
          <p:cNvPr id="30" name="Text 27"/>
          <p:cNvSpPr/>
          <p:nvPr/>
        </p:nvSpPr>
        <p:spPr>
          <a:xfrm>
            <a:off x="2108478" y="3603879"/>
            <a:ext cx="718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AUPRC</a:t>
            </a:r>
            <a:endParaRPr lang="en-US" sz="563" dirty="0"/>
          </a:p>
        </p:txBody>
      </p:sp>
      <p:sp>
        <p:nvSpPr>
          <p:cNvPr id="31" name="Text 28"/>
          <p:cNvSpPr/>
          <p:nvPr/>
        </p:nvSpPr>
        <p:spPr>
          <a:xfrm>
            <a:off x="3439121" y="3603879"/>
            <a:ext cx="3971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563" dirty="0"/>
          </a:p>
        </p:txBody>
      </p:sp>
      <p:sp>
        <p:nvSpPr>
          <p:cNvPr id="32" name="Shape 29"/>
          <p:cNvSpPr/>
          <p:nvPr/>
        </p:nvSpPr>
        <p:spPr>
          <a:xfrm>
            <a:off x="824087" y="1668572"/>
            <a:ext cx="206006" cy="1913876"/>
          </a:xfrm>
          <a:custGeom>
            <a:avLst/>
            <a:gdLst/>
            <a:ahLst/>
            <a:cxnLst/>
            <a:rect l="l" t="t" r="r" b="b"/>
            <a:pathLst>
              <a:path w="206006" h="1913876">
                <a:moveTo>
                  <a:pt x="0" y="1913876"/>
                </a:moveTo>
                <a:lnTo>
                  <a:pt x="206006" y="1913876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33" name="Shape 30"/>
          <p:cNvSpPr/>
          <p:nvPr/>
        </p:nvSpPr>
        <p:spPr>
          <a:xfrm>
            <a:off x="1993996" y="2529816"/>
            <a:ext cx="206006" cy="1052632"/>
          </a:xfrm>
          <a:custGeom>
            <a:avLst/>
            <a:gdLst/>
            <a:ahLst/>
            <a:cxnLst/>
            <a:rect l="l" t="t" r="r" b="b"/>
            <a:pathLst>
              <a:path w="206006" h="1052632">
                <a:moveTo>
                  <a:pt x="0" y="1052632"/>
                </a:moveTo>
                <a:lnTo>
                  <a:pt x="206006" y="1052632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34" name="Shape 31"/>
          <p:cNvSpPr/>
          <p:nvPr/>
        </p:nvSpPr>
        <p:spPr>
          <a:xfrm>
            <a:off x="3163904" y="3203500"/>
            <a:ext cx="206006" cy="378947"/>
          </a:xfrm>
          <a:custGeom>
            <a:avLst/>
            <a:gdLst/>
            <a:ahLst/>
            <a:cxnLst/>
            <a:rect l="l" t="t" r="r" b="b"/>
            <a:pathLst>
              <a:path w="206006" h="378947">
                <a:moveTo>
                  <a:pt x="0" y="378947"/>
                </a:moveTo>
                <a:lnTo>
                  <a:pt x="206006" y="378947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35" name="Shape 32"/>
          <p:cNvSpPr/>
          <p:nvPr/>
        </p:nvSpPr>
        <p:spPr>
          <a:xfrm>
            <a:off x="1071294" y="1634122"/>
            <a:ext cx="206006" cy="1948326"/>
          </a:xfrm>
          <a:custGeom>
            <a:avLst/>
            <a:gdLst/>
            <a:ahLst/>
            <a:cxnLst/>
            <a:rect l="l" t="t" r="r" b="b"/>
            <a:pathLst>
              <a:path w="206006" h="1948326">
                <a:moveTo>
                  <a:pt x="0" y="1948326"/>
                </a:moveTo>
                <a:lnTo>
                  <a:pt x="206006" y="1948326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36" name="Shape 33"/>
          <p:cNvSpPr/>
          <p:nvPr/>
        </p:nvSpPr>
        <p:spPr>
          <a:xfrm>
            <a:off x="2241202" y="2460917"/>
            <a:ext cx="206006" cy="1121531"/>
          </a:xfrm>
          <a:custGeom>
            <a:avLst/>
            <a:gdLst/>
            <a:ahLst/>
            <a:cxnLst/>
            <a:rect l="l" t="t" r="r" b="b"/>
            <a:pathLst>
              <a:path w="206006" h="1121531">
                <a:moveTo>
                  <a:pt x="0" y="1121531"/>
                </a:moveTo>
                <a:lnTo>
                  <a:pt x="206006" y="1121531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37" name="Shape 34"/>
          <p:cNvSpPr/>
          <p:nvPr/>
        </p:nvSpPr>
        <p:spPr>
          <a:xfrm>
            <a:off x="3411111" y="3004458"/>
            <a:ext cx="206006" cy="577990"/>
          </a:xfrm>
          <a:custGeom>
            <a:avLst/>
            <a:gdLst/>
            <a:ahLst/>
            <a:cxnLst/>
            <a:rect l="l" t="t" r="r" b="b"/>
            <a:pathLst>
              <a:path w="206006" h="577990">
                <a:moveTo>
                  <a:pt x="0" y="577990"/>
                </a:moveTo>
                <a:lnTo>
                  <a:pt x="206006" y="577990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38" name="Shape 35"/>
          <p:cNvSpPr/>
          <p:nvPr/>
        </p:nvSpPr>
        <p:spPr>
          <a:xfrm>
            <a:off x="1318501" y="1637950"/>
            <a:ext cx="206006" cy="1944497"/>
          </a:xfrm>
          <a:custGeom>
            <a:avLst/>
            <a:gdLst/>
            <a:ahLst/>
            <a:cxnLst/>
            <a:rect l="l" t="t" r="r" b="b"/>
            <a:pathLst>
              <a:path w="206006" h="1944497">
                <a:moveTo>
                  <a:pt x="0" y="1944497"/>
                </a:moveTo>
                <a:lnTo>
                  <a:pt x="206006" y="1944497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39" name="Shape 36"/>
          <p:cNvSpPr/>
          <p:nvPr/>
        </p:nvSpPr>
        <p:spPr>
          <a:xfrm>
            <a:off x="2488409" y="2468572"/>
            <a:ext cx="206006" cy="1113876"/>
          </a:xfrm>
          <a:custGeom>
            <a:avLst/>
            <a:gdLst/>
            <a:ahLst/>
            <a:cxnLst/>
            <a:rect l="l" t="t" r="r" b="b"/>
            <a:pathLst>
              <a:path w="206006" h="1113876">
                <a:moveTo>
                  <a:pt x="0" y="1113876"/>
                </a:moveTo>
                <a:lnTo>
                  <a:pt x="206006" y="1113876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40" name="Shape 37"/>
          <p:cNvSpPr/>
          <p:nvPr/>
        </p:nvSpPr>
        <p:spPr>
          <a:xfrm>
            <a:off x="3658317" y="3046563"/>
            <a:ext cx="206006" cy="535885"/>
          </a:xfrm>
          <a:custGeom>
            <a:avLst/>
            <a:gdLst/>
            <a:ahLst/>
            <a:cxnLst/>
            <a:rect l="l" t="t" r="r" b="b"/>
            <a:pathLst>
              <a:path w="206006" h="535885">
                <a:moveTo>
                  <a:pt x="0" y="535885"/>
                </a:moveTo>
                <a:lnTo>
                  <a:pt x="206006" y="535885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41" name="Shape 38"/>
          <p:cNvSpPr/>
          <p:nvPr/>
        </p:nvSpPr>
        <p:spPr>
          <a:xfrm>
            <a:off x="1565708" y="1611156"/>
            <a:ext cx="206006" cy="1971292"/>
          </a:xfrm>
          <a:custGeom>
            <a:avLst/>
            <a:gdLst/>
            <a:ahLst/>
            <a:cxnLst/>
            <a:rect l="l" t="t" r="r" b="b"/>
            <a:pathLst>
              <a:path w="206006" h="1971292">
                <a:moveTo>
                  <a:pt x="0" y="1971292"/>
                </a:moveTo>
                <a:lnTo>
                  <a:pt x="206006" y="1971292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42" name="Shape 39"/>
          <p:cNvSpPr/>
          <p:nvPr/>
        </p:nvSpPr>
        <p:spPr>
          <a:xfrm>
            <a:off x="2735615" y="2437950"/>
            <a:ext cx="206006" cy="1144497"/>
          </a:xfrm>
          <a:custGeom>
            <a:avLst/>
            <a:gdLst/>
            <a:ahLst/>
            <a:cxnLst/>
            <a:rect l="l" t="t" r="r" b="b"/>
            <a:pathLst>
              <a:path w="206006" h="1144497">
                <a:moveTo>
                  <a:pt x="0" y="1144497"/>
                </a:moveTo>
                <a:lnTo>
                  <a:pt x="206006" y="1144497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43" name="Shape 40"/>
          <p:cNvSpPr/>
          <p:nvPr/>
        </p:nvSpPr>
        <p:spPr>
          <a:xfrm>
            <a:off x="3905524" y="2920247"/>
            <a:ext cx="206006" cy="662201"/>
          </a:xfrm>
          <a:custGeom>
            <a:avLst/>
            <a:gdLst/>
            <a:ahLst/>
            <a:cxnLst/>
            <a:rect l="l" t="t" r="r" b="b"/>
            <a:pathLst>
              <a:path w="206006" h="662201">
                <a:moveTo>
                  <a:pt x="0" y="662201"/>
                </a:moveTo>
                <a:lnTo>
                  <a:pt x="206006" y="662201"/>
                </a:lnTo>
                <a:lnTo>
                  <a:pt x="206006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44" name="Text 41"/>
          <p:cNvSpPr/>
          <p:nvPr/>
        </p:nvSpPr>
        <p:spPr>
          <a:xfrm>
            <a:off x="1362957" y="1489712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0.915</a:t>
            </a:r>
            <a:endParaRPr lang="en-US" sz="450" dirty="0"/>
          </a:p>
        </p:txBody>
      </p:sp>
      <p:sp>
        <p:nvSpPr>
          <p:cNvPr id="45" name="Text 42"/>
          <p:cNvSpPr/>
          <p:nvPr/>
        </p:nvSpPr>
        <p:spPr>
          <a:xfrm>
            <a:off x="2532866" y="2316507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0.699</a:t>
            </a:r>
            <a:endParaRPr lang="en-US" sz="450" dirty="0"/>
          </a:p>
        </p:txBody>
      </p:sp>
      <p:sp>
        <p:nvSpPr>
          <p:cNvPr id="46" name="Text 43"/>
          <p:cNvSpPr/>
          <p:nvPr/>
        </p:nvSpPr>
        <p:spPr>
          <a:xfrm>
            <a:off x="3702774" y="2798803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0.573</a:t>
            </a:r>
            <a:endParaRPr lang="en-US" sz="450" dirty="0"/>
          </a:p>
        </p:txBody>
      </p:sp>
      <p:sp>
        <p:nvSpPr>
          <p:cNvPr id="47" name="Shape 44"/>
          <p:cNvSpPr/>
          <p:nvPr/>
        </p:nvSpPr>
        <p:spPr>
          <a:xfrm>
            <a:off x="1524479" y="935831"/>
            <a:ext cx="1680204" cy="171450"/>
          </a:xfrm>
          <a:custGeom>
            <a:avLst/>
            <a:gdLst/>
            <a:ahLst/>
            <a:cxnLst/>
            <a:rect l="l" t="t" r="r" b="b"/>
            <a:pathLst>
              <a:path w="1680204" h="171450">
                <a:moveTo>
                  <a:pt x="0" y="0"/>
                </a:moveTo>
                <a:lnTo>
                  <a:pt x="1680204" y="0"/>
                </a:lnTo>
                <a:lnTo>
                  <a:pt x="1680204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48" name="Shape 45"/>
          <p:cNvSpPr/>
          <p:nvPr/>
        </p:nvSpPr>
        <p:spPr>
          <a:xfrm>
            <a:off x="1560198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B0AEA5"/>
          </a:solidFill>
          <a:ln/>
        </p:spPr>
      </p:sp>
      <p:sp>
        <p:nvSpPr>
          <p:cNvPr id="49" name="Text 46"/>
          <p:cNvSpPr/>
          <p:nvPr/>
        </p:nvSpPr>
        <p:spPr>
          <a:xfrm>
            <a:off x="1774510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</a:t>
            </a:r>
            <a:endParaRPr lang="en-US" sz="506" dirty="0"/>
          </a:p>
        </p:txBody>
      </p:sp>
      <p:sp>
        <p:nvSpPr>
          <p:cNvPr id="50" name="Shape 47"/>
          <p:cNvSpPr/>
          <p:nvPr/>
        </p:nvSpPr>
        <p:spPr>
          <a:xfrm>
            <a:off x="1992461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87867F"/>
          </a:solidFill>
          <a:ln/>
        </p:spPr>
      </p:sp>
      <p:sp>
        <p:nvSpPr>
          <p:cNvPr id="51" name="Text 48"/>
          <p:cNvSpPr/>
          <p:nvPr/>
        </p:nvSpPr>
        <p:spPr>
          <a:xfrm>
            <a:off x="2206774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</a:t>
            </a:r>
            <a:endParaRPr lang="en-US" sz="506" dirty="0"/>
          </a:p>
        </p:txBody>
      </p:sp>
      <p:sp>
        <p:nvSpPr>
          <p:cNvPr id="52" name="Shape 49"/>
          <p:cNvSpPr/>
          <p:nvPr/>
        </p:nvSpPr>
        <p:spPr>
          <a:xfrm>
            <a:off x="2397192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5E5D59"/>
          </a:solidFill>
          <a:ln/>
        </p:spPr>
      </p:sp>
      <p:sp>
        <p:nvSpPr>
          <p:cNvPr id="53" name="Text 50"/>
          <p:cNvSpPr/>
          <p:nvPr/>
        </p:nvSpPr>
        <p:spPr>
          <a:xfrm>
            <a:off x="2611504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</a:t>
            </a:r>
            <a:endParaRPr lang="en-US" sz="506" dirty="0"/>
          </a:p>
        </p:txBody>
      </p:sp>
      <p:sp>
        <p:nvSpPr>
          <p:cNvPr id="54" name="Shape 51"/>
          <p:cNvSpPr/>
          <p:nvPr/>
        </p:nvSpPr>
        <p:spPr>
          <a:xfrm>
            <a:off x="2807857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55" name="Text 52"/>
          <p:cNvSpPr/>
          <p:nvPr/>
        </p:nvSpPr>
        <p:spPr>
          <a:xfrm>
            <a:off x="3022169" y="957263"/>
            <a:ext cx="568643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506" dirty="0"/>
          </a:p>
        </p:txBody>
      </p:sp>
      <p:sp>
        <p:nvSpPr>
          <p:cNvPr id="56" name="Shape 53"/>
          <p:cNvSpPr/>
          <p:nvPr/>
        </p:nvSpPr>
        <p:spPr>
          <a:xfrm>
            <a:off x="4629150" y="700869"/>
            <a:ext cx="4300538" cy="3364706"/>
          </a:xfrm>
          <a:prstGeom prst="roundRect">
            <a:avLst>
              <a:gd name="adj" fmla="val 462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38" y="810816"/>
            <a:ext cx="71438" cy="71438"/>
          </a:xfrm>
          <a:prstGeom prst="rect">
            <a:avLst/>
          </a:prstGeom>
        </p:spPr>
      </p:pic>
      <p:sp>
        <p:nvSpPr>
          <p:cNvPr id="58" name="Text 54"/>
          <p:cNvSpPr/>
          <p:nvPr/>
        </p:nvSpPr>
        <p:spPr>
          <a:xfrm>
            <a:off x="4842346" y="785813"/>
            <a:ext cx="1750219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心源性休克风险预测（CardiacRisk）</a:t>
            </a:r>
            <a:endParaRPr lang="en-US" sz="800" dirty="0"/>
          </a:p>
        </p:txBody>
      </p:sp>
      <p:sp>
        <p:nvSpPr>
          <p:cNvPr id="59" name="Shape 55"/>
          <p:cNvSpPr/>
          <p:nvPr/>
        </p:nvSpPr>
        <p:spPr>
          <a:xfrm>
            <a:off x="5127784" y="3582591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5127784" y="3232547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127784" y="2882503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127784" y="2532459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127784" y="2182416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5127784" y="1832372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5127784" y="1482328"/>
            <a:ext cx="3509724" cy="0"/>
          </a:xfrm>
          <a:prstGeom prst="line">
            <a:avLst/>
          </a:prstGeom>
          <a:noFill/>
          <a:ln w="6350">
            <a:solidFill>
              <a:srgbClr val="E8E6DC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27784" y="3582591"/>
            <a:ext cx="3509724" cy="0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132784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004322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883003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761684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640366" y="3582448"/>
            <a:ext cx="0" cy="35719"/>
          </a:xfrm>
          <a:prstGeom prst="line">
            <a:avLst/>
          </a:prstGeom>
          <a:noFill/>
          <a:ln w="6350">
            <a:solidFill>
              <a:srgbClr val="6E7079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598432" y="3518154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506" dirty="0"/>
          </a:p>
        </p:txBody>
      </p:sp>
      <p:sp>
        <p:nvSpPr>
          <p:cNvPr id="73" name="Text 69"/>
          <p:cNvSpPr/>
          <p:nvPr/>
        </p:nvSpPr>
        <p:spPr>
          <a:xfrm>
            <a:off x="4598432" y="3167277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</a:t>
            </a:r>
            <a:endParaRPr lang="en-US" sz="506" dirty="0"/>
          </a:p>
        </p:txBody>
      </p:sp>
      <p:sp>
        <p:nvSpPr>
          <p:cNvPr id="74" name="Text 70"/>
          <p:cNvSpPr/>
          <p:nvPr/>
        </p:nvSpPr>
        <p:spPr>
          <a:xfrm>
            <a:off x="4598432" y="2816400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506" dirty="0"/>
          </a:p>
        </p:txBody>
      </p:sp>
      <p:sp>
        <p:nvSpPr>
          <p:cNvPr id="75" name="Text 71"/>
          <p:cNvSpPr/>
          <p:nvPr/>
        </p:nvSpPr>
        <p:spPr>
          <a:xfrm>
            <a:off x="4598432" y="2465522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506" dirty="0"/>
          </a:p>
        </p:txBody>
      </p:sp>
      <p:sp>
        <p:nvSpPr>
          <p:cNvPr id="76" name="Text 72"/>
          <p:cNvSpPr/>
          <p:nvPr/>
        </p:nvSpPr>
        <p:spPr>
          <a:xfrm>
            <a:off x="4598432" y="2114645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</a:t>
            </a:r>
            <a:endParaRPr lang="en-US" sz="506" dirty="0"/>
          </a:p>
        </p:txBody>
      </p:sp>
      <p:sp>
        <p:nvSpPr>
          <p:cNvPr id="77" name="Text 73"/>
          <p:cNvSpPr/>
          <p:nvPr/>
        </p:nvSpPr>
        <p:spPr>
          <a:xfrm>
            <a:off x="4598432" y="1763768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</a:t>
            </a:r>
            <a:endParaRPr lang="en-US" sz="506" dirty="0"/>
          </a:p>
        </p:txBody>
      </p:sp>
      <p:sp>
        <p:nvSpPr>
          <p:cNvPr id="78" name="Text 74"/>
          <p:cNvSpPr/>
          <p:nvPr/>
        </p:nvSpPr>
        <p:spPr>
          <a:xfrm>
            <a:off x="4598432" y="1412891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6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</a:t>
            </a:r>
            <a:endParaRPr lang="en-US" sz="506" dirty="0"/>
          </a:p>
        </p:txBody>
      </p:sp>
      <p:sp>
        <p:nvSpPr>
          <p:cNvPr id="79" name="Text 75"/>
          <p:cNvSpPr/>
          <p:nvPr/>
        </p:nvSpPr>
        <p:spPr>
          <a:xfrm>
            <a:off x="5207169" y="3603879"/>
            <a:ext cx="718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</a:t>
            </a:r>
            <a:endParaRPr lang="en-US" sz="563" dirty="0"/>
          </a:p>
        </p:txBody>
      </p:sp>
      <p:sp>
        <p:nvSpPr>
          <p:cNvPr id="80" name="Text 76"/>
          <p:cNvSpPr/>
          <p:nvPr/>
        </p:nvSpPr>
        <p:spPr>
          <a:xfrm>
            <a:off x="6084600" y="3603879"/>
            <a:ext cx="718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AUPRC</a:t>
            </a:r>
            <a:endParaRPr lang="en-US" sz="563" dirty="0"/>
          </a:p>
        </p:txBody>
      </p:sp>
      <p:sp>
        <p:nvSpPr>
          <p:cNvPr id="81" name="Text 77"/>
          <p:cNvSpPr/>
          <p:nvPr/>
        </p:nvSpPr>
        <p:spPr>
          <a:xfrm>
            <a:off x="7122765" y="3603879"/>
            <a:ext cx="3971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563" dirty="0"/>
          </a:p>
        </p:txBody>
      </p:sp>
      <p:sp>
        <p:nvSpPr>
          <p:cNvPr id="82" name="Text 78"/>
          <p:cNvSpPr/>
          <p:nvPr/>
        </p:nvSpPr>
        <p:spPr>
          <a:xfrm>
            <a:off x="7946618" y="3603879"/>
            <a:ext cx="5043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3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563" dirty="0"/>
          </a:p>
        </p:txBody>
      </p:sp>
      <p:sp>
        <p:nvSpPr>
          <p:cNvPr id="83" name="Shape 79"/>
          <p:cNvSpPr/>
          <p:nvPr/>
        </p:nvSpPr>
        <p:spPr>
          <a:xfrm>
            <a:off x="5211140" y="2028062"/>
            <a:ext cx="154504" cy="1554386"/>
          </a:xfrm>
          <a:custGeom>
            <a:avLst/>
            <a:gdLst/>
            <a:ahLst/>
            <a:cxnLst/>
            <a:rect l="l" t="t" r="r" b="b"/>
            <a:pathLst>
              <a:path w="154504" h="1554386">
                <a:moveTo>
                  <a:pt x="0" y="1554386"/>
                </a:moveTo>
                <a:lnTo>
                  <a:pt x="154504" y="1554386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84" name="Shape 80"/>
          <p:cNvSpPr/>
          <p:nvPr/>
        </p:nvSpPr>
        <p:spPr>
          <a:xfrm>
            <a:off x="6088571" y="3473676"/>
            <a:ext cx="154504" cy="108772"/>
          </a:xfrm>
          <a:custGeom>
            <a:avLst/>
            <a:gdLst/>
            <a:ahLst/>
            <a:cxnLst/>
            <a:rect l="l" t="t" r="r" b="b"/>
            <a:pathLst>
              <a:path w="154504" h="108772">
                <a:moveTo>
                  <a:pt x="0" y="108772"/>
                </a:moveTo>
                <a:lnTo>
                  <a:pt x="154504" y="108772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85" name="Shape 81"/>
          <p:cNvSpPr/>
          <p:nvPr/>
        </p:nvSpPr>
        <p:spPr>
          <a:xfrm>
            <a:off x="6966002" y="2849115"/>
            <a:ext cx="154504" cy="733333"/>
          </a:xfrm>
          <a:custGeom>
            <a:avLst/>
            <a:gdLst/>
            <a:ahLst/>
            <a:cxnLst/>
            <a:rect l="l" t="t" r="r" b="b"/>
            <a:pathLst>
              <a:path w="154504" h="733333">
                <a:moveTo>
                  <a:pt x="0" y="733333"/>
                </a:moveTo>
                <a:lnTo>
                  <a:pt x="154504" y="733333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86" name="Shape 82"/>
          <p:cNvSpPr/>
          <p:nvPr/>
        </p:nvSpPr>
        <p:spPr>
          <a:xfrm>
            <a:off x="7843433" y="1621044"/>
            <a:ext cx="154504" cy="1961404"/>
          </a:xfrm>
          <a:custGeom>
            <a:avLst/>
            <a:gdLst/>
            <a:ahLst/>
            <a:cxnLst/>
            <a:rect l="l" t="t" r="r" b="b"/>
            <a:pathLst>
              <a:path w="154504" h="1961404">
                <a:moveTo>
                  <a:pt x="0" y="1961404"/>
                </a:moveTo>
                <a:lnTo>
                  <a:pt x="154504" y="1961404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87" name="Shape 83"/>
          <p:cNvSpPr/>
          <p:nvPr/>
        </p:nvSpPr>
        <p:spPr>
          <a:xfrm>
            <a:off x="5396544" y="1915781"/>
            <a:ext cx="154504" cy="1666667"/>
          </a:xfrm>
          <a:custGeom>
            <a:avLst/>
            <a:gdLst/>
            <a:ahLst/>
            <a:cxnLst/>
            <a:rect l="l" t="t" r="r" b="b"/>
            <a:pathLst>
              <a:path w="154504" h="1666667">
                <a:moveTo>
                  <a:pt x="0" y="1666667"/>
                </a:moveTo>
                <a:lnTo>
                  <a:pt x="154504" y="1666667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88" name="Shape 84"/>
          <p:cNvSpPr/>
          <p:nvPr/>
        </p:nvSpPr>
        <p:spPr>
          <a:xfrm>
            <a:off x="6273976" y="2996483"/>
            <a:ext cx="154504" cy="585965"/>
          </a:xfrm>
          <a:custGeom>
            <a:avLst/>
            <a:gdLst/>
            <a:ahLst/>
            <a:cxnLst/>
            <a:rect l="l" t="t" r="r" b="b"/>
            <a:pathLst>
              <a:path w="154504" h="585965">
                <a:moveTo>
                  <a:pt x="0" y="585965"/>
                </a:moveTo>
                <a:lnTo>
                  <a:pt x="154504" y="585965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89" name="Shape 85"/>
          <p:cNvSpPr/>
          <p:nvPr/>
        </p:nvSpPr>
        <p:spPr>
          <a:xfrm>
            <a:off x="7151407" y="2771921"/>
            <a:ext cx="154504" cy="810526"/>
          </a:xfrm>
          <a:custGeom>
            <a:avLst/>
            <a:gdLst/>
            <a:ahLst/>
            <a:cxnLst/>
            <a:rect l="l" t="t" r="r" b="b"/>
            <a:pathLst>
              <a:path w="154504" h="810526">
                <a:moveTo>
                  <a:pt x="0" y="810526"/>
                </a:moveTo>
                <a:lnTo>
                  <a:pt x="154504" y="810526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90" name="Shape 86"/>
          <p:cNvSpPr/>
          <p:nvPr/>
        </p:nvSpPr>
        <p:spPr>
          <a:xfrm>
            <a:off x="8028838" y="1659641"/>
            <a:ext cx="154504" cy="1922807"/>
          </a:xfrm>
          <a:custGeom>
            <a:avLst/>
            <a:gdLst/>
            <a:ahLst/>
            <a:cxnLst/>
            <a:rect l="l" t="t" r="r" b="b"/>
            <a:pathLst>
              <a:path w="154504" h="1922807">
                <a:moveTo>
                  <a:pt x="0" y="1922807"/>
                </a:moveTo>
                <a:lnTo>
                  <a:pt x="154504" y="1922807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91" name="Shape 87"/>
          <p:cNvSpPr/>
          <p:nvPr/>
        </p:nvSpPr>
        <p:spPr>
          <a:xfrm>
            <a:off x="5581950" y="1992974"/>
            <a:ext cx="154504" cy="1589474"/>
          </a:xfrm>
          <a:custGeom>
            <a:avLst/>
            <a:gdLst/>
            <a:ahLst/>
            <a:cxnLst/>
            <a:rect l="l" t="t" r="r" b="b"/>
            <a:pathLst>
              <a:path w="154504" h="1589474">
                <a:moveTo>
                  <a:pt x="0" y="1589474"/>
                </a:moveTo>
                <a:lnTo>
                  <a:pt x="154504" y="1589474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92" name="Shape 88"/>
          <p:cNvSpPr/>
          <p:nvPr/>
        </p:nvSpPr>
        <p:spPr>
          <a:xfrm>
            <a:off x="6459381" y="3091220"/>
            <a:ext cx="154504" cy="491228"/>
          </a:xfrm>
          <a:custGeom>
            <a:avLst/>
            <a:gdLst/>
            <a:ahLst/>
            <a:cxnLst/>
            <a:rect l="l" t="t" r="r" b="b"/>
            <a:pathLst>
              <a:path w="154504" h="491228">
                <a:moveTo>
                  <a:pt x="0" y="491228"/>
                </a:moveTo>
                <a:lnTo>
                  <a:pt x="154504" y="491228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93" name="Shape 89"/>
          <p:cNvSpPr/>
          <p:nvPr/>
        </p:nvSpPr>
        <p:spPr>
          <a:xfrm>
            <a:off x="7336812" y="2785957"/>
            <a:ext cx="154504" cy="796491"/>
          </a:xfrm>
          <a:custGeom>
            <a:avLst/>
            <a:gdLst/>
            <a:ahLst/>
            <a:cxnLst/>
            <a:rect l="l" t="t" r="r" b="b"/>
            <a:pathLst>
              <a:path w="154504" h="796491">
                <a:moveTo>
                  <a:pt x="0" y="796491"/>
                </a:moveTo>
                <a:lnTo>
                  <a:pt x="154504" y="796491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94" name="Shape 90"/>
          <p:cNvSpPr/>
          <p:nvPr/>
        </p:nvSpPr>
        <p:spPr>
          <a:xfrm>
            <a:off x="8214243" y="1670167"/>
            <a:ext cx="154504" cy="1912280"/>
          </a:xfrm>
          <a:custGeom>
            <a:avLst/>
            <a:gdLst/>
            <a:ahLst/>
            <a:cxnLst/>
            <a:rect l="l" t="t" r="r" b="b"/>
            <a:pathLst>
              <a:path w="154504" h="1912280">
                <a:moveTo>
                  <a:pt x="0" y="1912280"/>
                </a:moveTo>
                <a:lnTo>
                  <a:pt x="154504" y="1912280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5E5D59"/>
          </a:solidFill>
          <a:ln/>
        </p:spPr>
      </p:sp>
      <p:sp>
        <p:nvSpPr>
          <p:cNvPr id="95" name="Shape 91"/>
          <p:cNvSpPr/>
          <p:nvPr/>
        </p:nvSpPr>
        <p:spPr>
          <a:xfrm>
            <a:off x="5767354" y="1757886"/>
            <a:ext cx="154504" cy="1824562"/>
          </a:xfrm>
          <a:custGeom>
            <a:avLst/>
            <a:gdLst/>
            <a:ahLst/>
            <a:cxnLst/>
            <a:rect l="l" t="t" r="r" b="b"/>
            <a:pathLst>
              <a:path w="154504" h="1824562">
                <a:moveTo>
                  <a:pt x="0" y="1824562"/>
                </a:moveTo>
                <a:lnTo>
                  <a:pt x="154504" y="1824562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96" name="Shape 92"/>
          <p:cNvSpPr/>
          <p:nvPr/>
        </p:nvSpPr>
        <p:spPr>
          <a:xfrm>
            <a:off x="6644785" y="3070167"/>
            <a:ext cx="154504" cy="512280"/>
          </a:xfrm>
          <a:custGeom>
            <a:avLst/>
            <a:gdLst/>
            <a:ahLst/>
            <a:cxnLst/>
            <a:rect l="l" t="t" r="r" b="b"/>
            <a:pathLst>
              <a:path w="154504" h="512280">
                <a:moveTo>
                  <a:pt x="0" y="512280"/>
                </a:moveTo>
                <a:lnTo>
                  <a:pt x="154504" y="512280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97" name="Shape 93"/>
          <p:cNvSpPr/>
          <p:nvPr/>
        </p:nvSpPr>
        <p:spPr>
          <a:xfrm>
            <a:off x="7522217" y="2712273"/>
            <a:ext cx="154504" cy="870175"/>
          </a:xfrm>
          <a:custGeom>
            <a:avLst/>
            <a:gdLst/>
            <a:ahLst/>
            <a:cxnLst/>
            <a:rect l="l" t="t" r="r" b="b"/>
            <a:pathLst>
              <a:path w="154504" h="870175">
                <a:moveTo>
                  <a:pt x="0" y="870175"/>
                </a:moveTo>
                <a:lnTo>
                  <a:pt x="154504" y="870175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98" name="Shape 94"/>
          <p:cNvSpPr/>
          <p:nvPr/>
        </p:nvSpPr>
        <p:spPr>
          <a:xfrm>
            <a:off x="8399648" y="1589465"/>
            <a:ext cx="154504" cy="1992983"/>
          </a:xfrm>
          <a:custGeom>
            <a:avLst/>
            <a:gdLst/>
            <a:ahLst/>
            <a:cxnLst/>
            <a:rect l="l" t="t" r="r" b="b"/>
            <a:pathLst>
              <a:path w="154504" h="1992983">
                <a:moveTo>
                  <a:pt x="0" y="1992983"/>
                </a:moveTo>
                <a:lnTo>
                  <a:pt x="154504" y="1992983"/>
                </a:lnTo>
                <a:lnTo>
                  <a:pt x="154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99" name="Text 95"/>
          <p:cNvSpPr/>
          <p:nvPr/>
        </p:nvSpPr>
        <p:spPr>
          <a:xfrm>
            <a:off x="5581717" y="1636442"/>
            <a:ext cx="525780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450" dirty="0"/>
          </a:p>
        </p:txBody>
      </p:sp>
      <p:sp>
        <p:nvSpPr>
          <p:cNvPr id="100" name="Text 96"/>
          <p:cNvSpPr/>
          <p:nvPr/>
        </p:nvSpPr>
        <p:spPr>
          <a:xfrm>
            <a:off x="6416286" y="2948724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0.346</a:t>
            </a:r>
            <a:endParaRPr lang="en-US" sz="450" dirty="0"/>
          </a:p>
        </p:txBody>
      </p:sp>
      <p:sp>
        <p:nvSpPr>
          <p:cNvPr id="101" name="Text 97"/>
          <p:cNvSpPr/>
          <p:nvPr/>
        </p:nvSpPr>
        <p:spPr>
          <a:xfrm>
            <a:off x="7293717" y="2590829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0.448</a:t>
            </a:r>
            <a:endParaRPr lang="en-US" sz="450" dirty="0"/>
          </a:p>
        </p:txBody>
      </p:sp>
      <p:sp>
        <p:nvSpPr>
          <p:cNvPr id="102" name="Text 98"/>
          <p:cNvSpPr/>
          <p:nvPr/>
        </p:nvSpPr>
        <p:spPr>
          <a:xfrm>
            <a:off x="8171148" y="1468021"/>
            <a:ext cx="611505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0.768</a:t>
            </a:r>
            <a:endParaRPr lang="en-US" sz="450" dirty="0"/>
          </a:p>
        </p:txBody>
      </p:sp>
      <p:sp>
        <p:nvSpPr>
          <p:cNvPr id="103" name="Shape 99"/>
          <p:cNvSpPr/>
          <p:nvPr/>
        </p:nvSpPr>
        <p:spPr>
          <a:xfrm>
            <a:off x="5939317" y="935831"/>
            <a:ext cx="1680204" cy="171450"/>
          </a:xfrm>
          <a:custGeom>
            <a:avLst/>
            <a:gdLst/>
            <a:ahLst/>
            <a:cxnLst/>
            <a:rect l="l" t="t" r="r" b="b"/>
            <a:pathLst>
              <a:path w="1680204" h="171450">
                <a:moveTo>
                  <a:pt x="0" y="0"/>
                </a:moveTo>
                <a:lnTo>
                  <a:pt x="1680204" y="0"/>
                </a:lnTo>
                <a:lnTo>
                  <a:pt x="1680204" y="171450"/>
                </a:lnTo>
                <a:lnTo>
                  <a:pt x="0" y="171450"/>
                </a:lnTo>
                <a:close/>
              </a:path>
            </a:pathLst>
          </a:custGeom>
          <a:noFill/>
          <a:ln/>
        </p:spPr>
      </p:sp>
      <p:sp>
        <p:nvSpPr>
          <p:cNvPr id="104" name="Shape 100"/>
          <p:cNvSpPr/>
          <p:nvPr/>
        </p:nvSpPr>
        <p:spPr>
          <a:xfrm>
            <a:off x="5975035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B0AEA5"/>
          </a:solidFill>
          <a:ln/>
        </p:spPr>
      </p:sp>
      <p:sp>
        <p:nvSpPr>
          <p:cNvPr id="105" name="Text 101"/>
          <p:cNvSpPr/>
          <p:nvPr/>
        </p:nvSpPr>
        <p:spPr>
          <a:xfrm>
            <a:off x="6189348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</a:t>
            </a:r>
            <a:endParaRPr lang="en-US" sz="506" dirty="0"/>
          </a:p>
        </p:txBody>
      </p:sp>
      <p:sp>
        <p:nvSpPr>
          <p:cNvPr id="106" name="Shape 102"/>
          <p:cNvSpPr/>
          <p:nvPr/>
        </p:nvSpPr>
        <p:spPr>
          <a:xfrm>
            <a:off x="6407299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87867F"/>
          </a:solidFill>
          <a:ln/>
        </p:spPr>
      </p:sp>
      <p:sp>
        <p:nvSpPr>
          <p:cNvPr id="107" name="Text 103"/>
          <p:cNvSpPr/>
          <p:nvPr/>
        </p:nvSpPr>
        <p:spPr>
          <a:xfrm>
            <a:off x="6621611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</a:t>
            </a:r>
            <a:endParaRPr lang="en-US" sz="506" dirty="0"/>
          </a:p>
        </p:txBody>
      </p:sp>
      <p:sp>
        <p:nvSpPr>
          <p:cNvPr id="108" name="Shape 104"/>
          <p:cNvSpPr/>
          <p:nvPr/>
        </p:nvSpPr>
        <p:spPr>
          <a:xfrm>
            <a:off x="6812029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5E5D59"/>
          </a:solidFill>
          <a:ln/>
        </p:spPr>
      </p:sp>
      <p:sp>
        <p:nvSpPr>
          <p:cNvPr id="109" name="Text 105"/>
          <p:cNvSpPr/>
          <p:nvPr/>
        </p:nvSpPr>
        <p:spPr>
          <a:xfrm>
            <a:off x="7026342" y="957263"/>
            <a:ext cx="472202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</a:t>
            </a:r>
            <a:endParaRPr lang="en-US" sz="506" dirty="0"/>
          </a:p>
        </p:txBody>
      </p:sp>
      <p:sp>
        <p:nvSpPr>
          <p:cNvPr id="110" name="Shape 106"/>
          <p:cNvSpPr/>
          <p:nvPr/>
        </p:nvSpPr>
        <p:spPr>
          <a:xfrm>
            <a:off x="7222694" y="971550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111" name="Text 107"/>
          <p:cNvSpPr/>
          <p:nvPr/>
        </p:nvSpPr>
        <p:spPr>
          <a:xfrm>
            <a:off x="7437007" y="957263"/>
            <a:ext cx="568643" cy="77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6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Ours</a:t>
            </a:r>
            <a:endParaRPr lang="en-US" sz="506" dirty="0"/>
          </a:p>
        </p:txBody>
      </p:sp>
      <p:sp>
        <p:nvSpPr>
          <p:cNvPr id="112" name="Shape 108"/>
          <p:cNvSpPr/>
          <p:nvPr/>
        </p:nvSpPr>
        <p:spPr>
          <a:xfrm>
            <a:off x="214313" y="4179875"/>
            <a:ext cx="2828925" cy="535781"/>
          </a:xfrm>
          <a:prstGeom prst="roundRect">
            <a:avLst>
              <a:gd name="adj" fmla="val 4551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00" y="4287813"/>
            <a:ext cx="71438" cy="71438"/>
          </a:xfrm>
          <a:prstGeom prst="rect">
            <a:avLst/>
          </a:prstGeom>
        </p:spPr>
      </p:pic>
      <p:sp>
        <p:nvSpPr>
          <p:cNvPr id="114" name="Text 109"/>
          <p:cNvSpPr/>
          <p:nvPr/>
        </p:nvSpPr>
        <p:spPr>
          <a:xfrm>
            <a:off x="426951" y="4266381"/>
            <a:ext cx="51435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药物推荐提升</a:t>
            </a:r>
            <a:endParaRPr lang="en-US" sz="600" dirty="0"/>
          </a:p>
        </p:txBody>
      </p:sp>
      <p:sp>
        <p:nvSpPr>
          <p:cNvPr id="115" name="Text 110"/>
          <p:cNvSpPr/>
          <p:nvPr/>
        </p:nvSpPr>
        <p:spPr>
          <a:xfrm>
            <a:off x="300038" y="4410652"/>
            <a:ext cx="26574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提升 0.6%~1.5%，F1 提升 2.2%~7.4%，Macro-F1 显著改善</a:t>
            </a:r>
            <a:endParaRPr lang="en-US" sz="600" dirty="0"/>
          </a:p>
        </p:txBody>
      </p:sp>
      <p:sp>
        <p:nvSpPr>
          <p:cNvPr id="116" name="Shape 111"/>
          <p:cNvSpPr/>
          <p:nvPr/>
        </p:nvSpPr>
        <p:spPr>
          <a:xfrm>
            <a:off x="3157538" y="4179875"/>
            <a:ext cx="2828925" cy="535781"/>
          </a:xfrm>
          <a:prstGeom prst="roundRect">
            <a:avLst>
              <a:gd name="adj" fmla="val 4551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425" y="4287813"/>
            <a:ext cx="71438" cy="71438"/>
          </a:xfrm>
          <a:prstGeom prst="rect">
            <a:avLst/>
          </a:prstGeom>
        </p:spPr>
      </p:pic>
      <p:sp>
        <p:nvSpPr>
          <p:cNvPr id="118" name="Text 112"/>
          <p:cNvSpPr/>
          <p:nvPr/>
        </p:nvSpPr>
        <p:spPr>
          <a:xfrm>
            <a:off x="3370176" y="4266381"/>
            <a:ext cx="60007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心源性休克提升</a:t>
            </a:r>
            <a:endParaRPr lang="en-US" sz="600" dirty="0"/>
          </a:p>
        </p:txBody>
      </p:sp>
      <p:sp>
        <p:nvSpPr>
          <p:cNvPr id="119" name="Text 113"/>
          <p:cNvSpPr/>
          <p:nvPr/>
        </p:nvSpPr>
        <p:spPr>
          <a:xfrm>
            <a:off x="3243263" y="4410652"/>
            <a:ext cx="26574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AUROC 提升 4.5%~7.7%，ACC 达到 0.768，验证联合预测架构有效性</a:t>
            </a:r>
            <a:endParaRPr lang="en-US" sz="600" dirty="0"/>
          </a:p>
        </p:txBody>
      </p:sp>
      <p:sp>
        <p:nvSpPr>
          <p:cNvPr id="120" name="Shape 114"/>
          <p:cNvSpPr/>
          <p:nvPr/>
        </p:nvSpPr>
        <p:spPr>
          <a:xfrm>
            <a:off x="6100763" y="4179875"/>
            <a:ext cx="2828925" cy="535781"/>
          </a:xfrm>
          <a:prstGeom prst="roundRect">
            <a:avLst>
              <a:gd name="adj" fmla="val 4551"/>
            </a:avLst>
          </a:prstGeom>
          <a:solidFill>
            <a:srgbClr val="C96442"/>
          </a:solidFill>
          <a:ln/>
        </p:spPr>
      </p:sp>
      <p:pic>
        <p:nvPicPr>
          <p:cNvPr id="1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50" y="4287813"/>
            <a:ext cx="71438" cy="71438"/>
          </a:xfrm>
          <a:prstGeom prst="rect">
            <a:avLst/>
          </a:prstGeom>
        </p:spPr>
      </p:pic>
      <p:sp>
        <p:nvSpPr>
          <p:cNvPr id="122" name="Text 115"/>
          <p:cNvSpPr/>
          <p:nvPr/>
        </p:nvSpPr>
        <p:spPr>
          <a:xfrm>
            <a:off x="6314349" y="4266381"/>
            <a:ext cx="692944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稀疏化 ≠ 性能损失</a:t>
            </a:r>
            <a:endParaRPr lang="en-US" sz="600" dirty="0"/>
          </a:p>
        </p:txBody>
      </p:sp>
      <p:sp>
        <p:nvSpPr>
          <p:cNvPr id="123" name="Text 116"/>
          <p:cNvSpPr/>
          <p:nvPr/>
        </p:nvSpPr>
        <p:spPr>
          <a:xfrm>
            <a:off x="6186488" y="4408475"/>
            <a:ext cx="2657475" cy="2214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边稀疏化模块在降低计算复杂度的同时，通过保留关键图结构信息，实现性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能全面超越</a:t>
            </a:r>
            <a:endParaRPr lang="en-US" sz="600" dirty="0"/>
          </a:p>
        </p:txBody>
      </p:sp>
      <p:sp>
        <p:nvSpPr>
          <p:cNvPr id="124" name="Shape 117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125" name="Text 118"/>
          <p:cNvSpPr/>
          <p:nvPr/>
        </p:nvSpPr>
        <p:spPr>
          <a:xfrm>
            <a:off x="214703" y="4775597"/>
            <a:ext cx="757237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ICU项目 · 量化实验结果</a:t>
            </a:r>
            <a:endParaRPr lang="en-US" sz="500" dirty="0"/>
          </a:p>
        </p:txBody>
      </p:sp>
      <p:sp>
        <p:nvSpPr>
          <p:cNvPr id="126" name="Text 119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/ 12</a:t>
            </a:r>
            <a:endParaRPr lang="en-US" sz="500" dirty="0"/>
          </a:p>
        </p:txBody>
      </p:sp>
      <p:pic>
        <p:nvPicPr>
          <p:cNvPr id="127" name="Image 5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3364" y="271407"/>
            <a:ext cx="2950369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VLM安全研究：从理论框架到文献体系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364" y="477850"/>
            <a:ext cx="2950369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Security: Theoretical Framework &amp; Literature System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5261" y="700088"/>
            <a:ext cx="3907631" cy="1443038"/>
          </a:xfrm>
          <a:prstGeom prst="roundRect">
            <a:avLst>
              <a:gd name="adj" fmla="val 251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88" y="825103"/>
            <a:ext cx="71438" cy="714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41238" y="800100"/>
            <a:ext cx="428625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研究方向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5274" y="962955"/>
            <a:ext cx="3707606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视觉提示注入攻击对大型视觉语言模型（VLM）的安全研究，从物理场景注入逐步演进到场景一致的排版攻击，核心关注点是</a:t>
            </a:r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注意力机制与攻击成功率的关系</a:t>
            </a:r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15261" y="2228850"/>
            <a:ext cx="3907631" cy="1443038"/>
          </a:xfrm>
          <a:prstGeom prst="roundRect">
            <a:avLst>
              <a:gd name="adj" fmla="val 2510"/>
            </a:avLst>
          </a:prstGeom>
          <a:solidFill>
            <a:srgbClr val="14141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88" y="2353866"/>
            <a:ext cx="71438" cy="714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238" y="2328863"/>
            <a:ext cx="428625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研究动机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15274" y="2491718"/>
            <a:ext cx="3707606" cy="3000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已广泛应用于实际场景，但视觉通道的注入攻击（如场景中的文字、贴纸、标签）可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能诱导模型偏离原任务或执行恶意指令，构成安全隐患。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237193" y="700088"/>
            <a:ext cx="4693444" cy="2971800"/>
          </a:xfrm>
          <a:prstGeom prst="roundRect">
            <a:avLst>
              <a:gd name="adj" fmla="val 592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17" y="825103"/>
            <a:ext cx="71438" cy="714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65067" y="800100"/>
            <a:ext cx="642938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文献调研体系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6726136" y="2500586"/>
            <a:ext cx="207850" cy="36650"/>
          </a:xfrm>
          <a:custGeom>
            <a:avLst/>
            <a:gdLst/>
            <a:ahLst/>
            <a:cxnLst/>
            <a:rect l="l" t="t" r="r" b="b"/>
            <a:pathLst>
              <a:path w="207850" h="36650">
                <a:moveTo>
                  <a:pt x="0" y="0"/>
                </a:moveTo>
                <a:lnTo>
                  <a:pt x="100694" y="36650"/>
                </a:lnTo>
                <a:lnTo>
                  <a:pt x="207850" y="36650"/>
                </a:lnTo>
              </a:path>
            </a:pathLst>
          </a:custGeom>
          <a:noFill/>
          <a:ln w="6350">
            <a:solidFill>
              <a:srgbClr val="C9644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3738" y="2354506"/>
            <a:ext cx="212684" cy="18607"/>
          </a:xfrm>
          <a:custGeom>
            <a:avLst/>
            <a:gdLst/>
            <a:ahLst/>
            <a:cxnLst/>
            <a:rect l="l" t="t" r="r" b="b"/>
            <a:pathLst>
              <a:path w="212684" h="18607">
                <a:moveTo>
                  <a:pt x="212684" y="0"/>
                </a:moveTo>
                <a:lnTo>
                  <a:pt x="107156" y="18607"/>
                </a:lnTo>
                <a:lnTo>
                  <a:pt x="0" y="18607"/>
                </a:lnTo>
              </a:path>
            </a:pathLst>
          </a:custGeom>
          <a:noFill/>
          <a:ln w="6350">
            <a:solidFill>
              <a:srgbClr val="D9775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56981" y="1577280"/>
            <a:ext cx="189243" cy="68879"/>
          </a:xfrm>
          <a:custGeom>
            <a:avLst/>
            <a:gdLst/>
            <a:ahLst/>
            <a:cxnLst/>
            <a:rect l="l" t="t" r="r" b="b"/>
            <a:pathLst>
              <a:path w="189243" h="68879">
                <a:moveTo>
                  <a:pt x="189243" y="68879"/>
                </a:moveTo>
                <a:lnTo>
                  <a:pt x="107156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87867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70305" y="1287867"/>
            <a:ext cx="143806" cy="100694"/>
          </a:xfrm>
          <a:custGeom>
            <a:avLst/>
            <a:gdLst/>
            <a:ahLst/>
            <a:cxnLst/>
            <a:rect l="l" t="t" r="r" b="b"/>
            <a:pathLst>
              <a:path w="143806" h="100694">
                <a:moveTo>
                  <a:pt x="143806" y="100694"/>
                </a:moveTo>
                <a:lnTo>
                  <a:pt x="107156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353162" y="1336238"/>
            <a:ext cx="1424768" cy="1735217"/>
          </a:xfrm>
          <a:custGeom>
            <a:avLst/>
            <a:gdLst/>
            <a:ahLst/>
            <a:cxnLst/>
            <a:rect l="l" t="t" r="r" b="b"/>
            <a:pathLst>
              <a:path w="1424768" h="1735217">
                <a:moveTo>
                  <a:pt x="557688" y="0"/>
                </a:moveTo>
                <a:lnTo>
                  <a:pt x="618210" y="2113"/>
                </a:lnTo>
                <a:lnTo>
                  <a:pt x="678436" y="8444"/>
                </a:lnTo>
                <a:lnTo>
                  <a:pt x="738074" y="18959"/>
                </a:lnTo>
                <a:lnTo>
                  <a:pt x="796834" y="33610"/>
                </a:lnTo>
                <a:lnTo>
                  <a:pt x="854428" y="52323"/>
                </a:lnTo>
                <a:lnTo>
                  <a:pt x="910576" y="75009"/>
                </a:lnTo>
                <a:lnTo>
                  <a:pt x="965006" y="101556"/>
                </a:lnTo>
                <a:lnTo>
                  <a:pt x="1017451" y="131835"/>
                </a:lnTo>
                <a:lnTo>
                  <a:pt x="1067656" y="165699"/>
                </a:lnTo>
                <a:lnTo>
                  <a:pt x="1115376" y="202982"/>
                </a:lnTo>
                <a:lnTo>
                  <a:pt x="1160380" y="243503"/>
                </a:lnTo>
                <a:lnTo>
                  <a:pt x="1202447" y="287065"/>
                </a:lnTo>
                <a:lnTo>
                  <a:pt x="1241373" y="333456"/>
                </a:lnTo>
                <a:lnTo>
                  <a:pt x="1276968" y="382448"/>
                </a:lnTo>
                <a:lnTo>
                  <a:pt x="1309059" y="433804"/>
                </a:lnTo>
                <a:lnTo>
                  <a:pt x="1337489" y="487274"/>
                </a:lnTo>
                <a:lnTo>
                  <a:pt x="1362121" y="542597"/>
                </a:lnTo>
                <a:lnTo>
                  <a:pt x="1382833" y="599503"/>
                </a:lnTo>
                <a:lnTo>
                  <a:pt x="1399525" y="657715"/>
                </a:lnTo>
                <a:lnTo>
                  <a:pt x="1412115" y="716950"/>
                </a:lnTo>
                <a:lnTo>
                  <a:pt x="1420544" y="776919"/>
                </a:lnTo>
                <a:lnTo>
                  <a:pt x="1424768" y="837330"/>
                </a:lnTo>
                <a:lnTo>
                  <a:pt x="1424768" y="897888"/>
                </a:lnTo>
                <a:lnTo>
                  <a:pt x="1420544" y="958298"/>
                </a:lnTo>
                <a:lnTo>
                  <a:pt x="1412115" y="1018267"/>
                </a:lnTo>
                <a:lnTo>
                  <a:pt x="1399525" y="1077502"/>
                </a:lnTo>
                <a:lnTo>
                  <a:pt x="1382833" y="1135714"/>
                </a:lnTo>
                <a:lnTo>
                  <a:pt x="1362120" y="1192620"/>
                </a:lnTo>
                <a:lnTo>
                  <a:pt x="1337489" y="1247943"/>
                </a:lnTo>
                <a:lnTo>
                  <a:pt x="1309059" y="1301413"/>
                </a:lnTo>
                <a:lnTo>
                  <a:pt x="1276968" y="1352769"/>
                </a:lnTo>
                <a:lnTo>
                  <a:pt x="1241373" y="1401762"/>
                </a:lnTo>
                <a:lnTo>
                  <a:pt x="1202447" y="1448152"/>
                </a:lnTo>
                <a:lnTo>
                  <a:pt x="1160379" y="1491714"/>
                </a:lnTo>
                <a:lnTo>
                  <a:pt x="1115376" y="1532235"/>
                </a:lnTo>
                <a:lnTo>
                  <a:pt x="1067655" y="1569518"/>
                </a:lnTo>
                <a:lnTo>
                  <a:pt x="1017450" y="1603382"/>
                </a:lnTo>
                <a:lnTo>
                  <a:pt x="965005" y="1633661"/>
                </a:lnTo>
                <a:lnTo>
                  <a:pt x="910576" y="1660208"/>
                </a:lnTo>
                <a:lnTo>
                  <a:pt x="854427" y="1682894"/>
                </a:lnTo>
                <a:lnTo>
                  <a:pt x="796833" y="1701607"/>
                </a:lnTo>
                <a:lnTo>
                  <a:pt x="738074" y="1716258"/>
                </a:lnTo>
                <a:lnTo>
                  <a:pt x="678436" y="1726773"/>
                </a:lnTo>
                <a:lnTo>
                  <a:pt x="618209" y="1733103"/>
                </a:lnTo>
                <a:lnTo>
                  <a:pt x="557688" y="1735217"/>
                </a:lnTo>
                <a:lnTo>
                  <a:pt x="497167" y="1733103"/>
                </a:lnTo>
                <a:lnTo>
                  <a:pt x="436940" y="1726773"/>
                </a:lnTo>
                <a:lnTo>
                  <a:pt x="377302" y="1716258"/>
                </a:lnTo>
                <a:lnTo>
                  <a:pt x="318543" y="1701607"/>
                </a:lnTo>
                <a:lnTo>
                  <a:pt x="260948" y="1682894"/>
                </a:lnTo>
                <a:lnTo>
                  <a:pt x="204800" y="1660208"/>
                </a:lnTo>
                <a:lnTo>
                  <a:pt x="150370" y="1633661"/>
                </a:lnTo>
                <a:lnTo>
                  <a:pt x="97926" y="1603382"/>
                </a:lnTo>
                <a:lnTo>
                  <a:pt x="47721" y="1569518"/>
                </a:lnTo>
                <a:lnTo>
                  <a:pt x="0" y="1532235"/>
                </a:lnTo>
                <a:lnTo>
                  <a:pt x="239009" y="1247395"/>
                </a:lnTo>
                <a:lnTo>
                  <a:pt x="266278" y="1268700"/>
                </a:lnTo>
                <a:lnTo>
                  <a:pt x="294967" y="1288051"/>
                </a:lnTo>
                <a:lnTo>
                  <a:pt x="324935" y="1305353"/>
                </a:lnTo>
                <a:lnTo>
                  <a:pt x="356038" y="1320523"/>
                </a:lnTo>
                <a:lnTo>
                  <a:pt x="388123" y="1333486"/>
                </a:lnTo>
                <a:lnTo>
                  <a:pt x="421034" y="1344179"/>
                </a:lnTo>
                <a:lnTo>
                  <a:pt x="454610" y="1352551"/>
                </a:lnTo>
                <a:lnTo>
                  <a:pt x="488689" y="1358560"/>
                </a:lnTo>
                <a:lnTo>
                  <a:pt x="523104" y="1362177"/>
                </a:lnTo>
                <a:lnTo>
                  <a:pt x="557688" y="1363385"/>
                </a:lnTo>
                <a:lnTo>
                  <a:pt x="592272" y="1362177"/>
                </a:lnTo>
                <a:lnTo>
                  <a:pt x="626687" y="1358560"/>
                </a:lnTo>
                <a:lnTo>
                  <a:pt x="660766" y="1352551"/>
                </a:lnTo>
                <a:lnTo>
                  <a:pt x="694342" y="1344179"/>
                </a:lnTo>
                <a:lnTo>
                  <a:pt x="727253" y="1333486"/>
                </a:lnTo>
                <a:lnTo>
                  <a:pt x="759338" y="1320523"/>
                </a:lnTo>
                <a:lnTo>
                  <a:pt x="790441" y="1305353"/>
                </a:lnTo>
                <a:lnTo>
                  <a:pt x="820409" y="1288051"/>
                </a:lnTo>
                <a:lnTo>
                  <a:pt x="849098" y="1268700"/>
                </a:lnTo>
                <a:lnTo>
                  <a:pt x="876367" y="1247395"/>
                </a:lnTo>
                <a:lnTo>
                  <a:pt x="902083" y="1224240"/>
                </a:lnTo>
                <a:lnTo>
                  <a:pt x="926121" y="1199348"/>
                </a:lnTo>
                <a:lnTo>
                  <a:pt x="948365" y="1172839"/>
                </a:lnTo>
                <a:lnTo>
                  <a:pt x="968705" y="1144843"/>
                </a:lnTo>
                <a:lnTo>
                  <a:pt x="987043" y="1115497"/>
                </a:lnTo>
                <a:lnTo>
                  <a:pt x="1003289" y="1084943"/>
                </a:lnTo>
                <a:lnTo>
                  <a:pt x="1017364" y="1053330"/>
                </a:lnTo>
                <a:lnTo>
                  <a:pt x="1029199" y="1020812"/>
                </a:lnTo>
                <a:lnTo>
                  <a:pt x="1038737" y="987548"/>
                </a:lnTo>
                <a:lnTo>
                  <a:pt x="1045932" y="953699"/>
                </a:lnTo>
                <a:lnTo>
                  <a:pt x="1050748" y="919431"/>
                </a:lnTo>
                <a:lnTo>
                  <a:pt x="1053162" y="884911"/>
                </a:lnTo>
                <a:lnTo>
                  <a:pt x="1053162" y="850306"/>
                </a:lnTo>
                <a:lnTo>
                  <a:pt x="1050748" y="815786"/>
                </a:lnTo>
                <a:lnTo>
                  <a:pt x="1045932" y="781518"/>
                </a:lnTo>
                <a:lnTo>
                  <a:pt x="1038737" y="747670"/>
                </a:lnTo>
                <a:lnTo>
                  <a:pt x="1029199" y="714405"/>
                </a:lnTo>
                <a:lnTo>
                  <a:pt x="1017364" y="681888"/>
                </a:lnTo>
                <a:lnTo>
                  <a:pt x="1003289" y="650275"/>
                </a:lnTo>
                <a:lnTo>
                  <a:pt x="987043" y="619721"/>
                </a:lnTo>
                <a:lnTo>
                  <a:pt x="968705" y="590374"/>
                </a:lnTo>
                <a:lnTo>
                  <a:pt x="948365" y="562378"/>
                </a:lnTo>
                <a:lnTo>
                  <a:pt x="926122" y="535870"/>
                </a:lnTo>
                <a:lnTo>
                  <a:pt x="902083" y="510977"/>
                </a:lnTo>
                <a:lnTo>
                  <a:pt x="876367" y="487822"/>
                </a:lnTo>
                <a:lnTo>
                  <a:pt x="849098" y="466517"/>
                </a:lnTo>
                <a:lnTo>
                  <a:pt x="820410" y="447167"/>
                </a:lnTo>
                <a:lnTo>
                  <a:pt x="790441" y="429864"/>
                </a:lnTo>
                <a:lnTo>
                  <a:pt x="759339" y="414694"/>
                </a:lnTo>
                <a:lnTo>
                  <a:pt x="727254" y="401731"/>
                </a:lnTo>
                <a:lnTo>
                  <a:pt x="694343" y="391038"/>
                </a:lnTo>
                <a:lnTo>
                  <a:pt x="660766" y="382666"/>
                </a:lnTo>
                <a:lnTo>
                  <a:pt x="626687" y="376657"/>
                </a:lnTo>
                <a:lnTo>
                  <a:pt x="592272" y="373040"/>
                </a:lnTo>
                <a:lnTo>
                  <a:pt x="557688" y="371832"/>
                </a:lnTo>
                <a:close/>
              </a:path>
            </a:pathLst>
          </a:custGeom>
          <a:solidFill>
            <a:srgbClr val="C96442"/>
          </a:solidFill>
          <a:ln/>
        </p:spPr>
      </p:sp>
      <p:sp>
        <p:nvSpPr>
          <p:cNvPr id="23" name="Shape 18"/>
          <p:cNvSpPr/>
          <p:nvPr/>
        </p:nvSpPr>
        <p:spPr>
          <a:xfrm>
            <a:off x="5043242" y="1770043"/>
            <a:ext cx="548930" cy="1098431"/>
          </a:xfrm>
          <a:custGeom>
            <a:avLst/>
            <a:gdLst/>
            <a:ahLst/>
            <a:cxnLst/>
            <a:rect l="l" t="t" r="r" b="b"/>
            <a:pathLst>
              <a:path w="548930" h="1098431">
                <a:moveTo>
                  <a:pt x="309920" y="1098431"/>
                </a:moveTo>
                <a:lnTo>
                  <a:pt x="281461" y="1073472"/>
                </a:lnTo>
                <a:lnTo>
                  <a:pt x="254117" y="1047296"/>
                </a:lnTo>
                <a:lnTo>
                  <a:pt x="227940" y="1019952"/>
                </a:lnTo>
                <a:lnTo>
                  <a:pt x="202982" y="991492"/>
                </a:lnTo>
                <a:lnTo>
                  <a:pt x="179288" y="961971"/>
                </a:lnTo>
                <a:lnTo>
                  <a:pt x="156905" y="931444"/>
                </a:lnTo>
                <a:lnTo>
                  <a:pt x="135875" y="899970"/>
                </a:lnTo>
                <a:lnTo>
                  <a:pt x="116237" y="867608"/>
                </a:lnTo>
                <a:lnTo>
                  <a:pt x="98030" y="834421"/>
                </a:lnTo>
                <a:lnTo>
                  <a:pt x="81288" y="800471"/>
                </a:lnTo>
                <a:lnTo>
                  <a:pt x="66043" y="765824"/>
                </a:lnTo>
                <a:lnTo>
                  <a:pt x="52323" y="730544"/>
                </a:lnTo>
                <a:lnTo>
                  <a:pt x="40156" y="694699"/>
                </a:lnTo>
                <a:lnTo>
                  <a:pt x="29563" y="658358"/>
                </a:lnTo>
                <a:lnTo>
                  <a:pt x="20566" y="621589"/>
                </a:lnTo>
                <a:lnTo>
                  <a:pt x="13181" y="584463"/>
                </a:lnTo>
                <a:lnTo>
                  <a:pt x="7422" y="547050"/>
                </a:lnTo>
                <a:lnTo>
                  <a:pt x="3301" y="509421"/>
                </a:lnTo>
                <a:lnTo>
                  <a:pt x="826" y="471649"/>
                </a:lnTo>
                <a:lnTo>
                  <a:pt x="0" y="433804"/>
                </a:lnTo>
                <a:lnTo>
                  <a:pt x="826" y="395960"/>
                </a:lnTo>
                <a:lnTo>
                  <a:pt x="3302" y="358187"/>
                </a:lnTo>
                <a:lnTo>
                  <a:pt x="7423" y="320559"/>
                </a:lnTo>
                <a:lnTo>
                  <a:pt x="13181" y="283146"/>
                </a:lnTo>
                <a:lnTo>
                  <a:pt x="20566" y="246019"/>
                </a:lnTo>
                <a:lnTo>
                  <a:pt x="29563" y="209251"/>
                </a:lnTo>
                <a:lnTo>
                  <a:pt x="40156" y="172909"/>
                </a:lnTo>
                <a:lnTo>
                  <a:pt x="52323" y="137065"/>
                </a:lnTo>
                <a:lnTo>
                  <a:pt x="66043" y="101785"/>
                </a:lnTo>
                <a:lnTo>
                  <a:pt x="81288" y="67137"/>
                </a:lnTo>
                <a:lnTo>
                  <a:pt x="98030" y="33187"/>
                </a:lnTo>
                <a:lnTo>
                  <a:pt x="116238" y="0"/>
                </a:lnTo>
                <a:lnTo>
                  <a:pt x="438254" y="185916"/>
                </a:lnTo>
                <a:lnTo>
                  <a:pt x="427849" y="204880"/>
                </a:lnTo>
                <a:lnTo>
                  <a:pt x="418282" y="224280"/>
                </a:lnTo>
                <a:lnTo>
                  <a:pt x="409571" y="244079"/>
                </a:lnTo>
                <a:lnTo>
                  <a:pt x="401731" y="264239"/>
                </a:lnTo>
                <a:lnTo>
                  <a:pt x="394778" y="284721"/>
                </a:lnTo>
                <a:lnTo>
                  <a:pt x="388725" y="305488"/>
                </a:lnTo>
                <a:lnTo>
                  <a:pt x="383584" y="326499"/>
                </a:lnTo>
                <a:lnTo>
                  <a:pt x="379364" y="347714"/>
                </a:lnTo>
                <a:lnTo>
                  <a:pt x="376073" y="369092"/>
                </a:lnTo>
                <a:lnTo>
                  <a:pt x="373719" y="390595"/>
                </a:lnTo>
                <a:lnTo>
                  <a:pt x="372304" y="412179"/>
                </a:lnTo>
                <a:lnTo>
                  <a:pt x="371832" y="433804"/>
                </a:lnTo>
                <a:lnTo>
                  <a:pt x="372304" y="455430"/>
                </a:lnTo>
                <a:lnTo>
                  <a:pt x="373719" y="477014"/>
                </a:lnTo>
                <a:lnTo>
                  <a:pt x="376073" y="498516"/>
                </a:lnTo>
                <a:lnTo>
                  <a:pt x="379364" y="519895"/>
                </a:lnTo>
                <a:lnTo>
                  <a:pt x="383584" y="541110"/>
                </a:lnTo>
                <a:lnTo>
                  <a:pt x="388725" y="562121"/>
                </a:lnTo>
                <a:lnTo>
                  <a:pt x="394778" y="582887"/>
                </a:lnTo>
                <a:lnTo>
                  <a:pt x="401731" y="603370"/>
                </a:lnTo>
                <a:lnTo>
                  <a:pt x="409571" y="623530"/>
                </a:lnTo>
                <a:lnTo>
                  <a:pt x="418282" y="643328"/>
                </a:lnTo>
                <a:lnTo>
                  <a:pt x="427849" y="662728"/>
                </a:lnTo>
                <a:lnTo>
                  <a:pt x="438253" y="681692"/>
                </a:lnTo>
                <a:lnTo>
                  <a:pt x="449475" y="700185"/>
                </a:lnTo>
                <a:lnTo>
                  <a:pt x="461492" y="718170"/>
                </a:lnTo>
                <a:lnTo>
                  <a:pt x="474283" y="735614"/>
                </a:lnTo>
                <a:lnTo>
                  <a:pt x="487822" y="752483"/>
                </a:lnTo>
                <a:lnTo>
                  <a:pt x="502084" y="768746"/>
                </a:lnTo>
                <a:lnTo>
                  <a:pt x="517042" y="784371"/>
                </a:lnTo>
                <a:lnTo>
                  <a:pt x="532667" y="799329"/>
                </a:lnTo>
                <a:lnTo>
                  <a:pt x="548930" y="813591"/>
                </a:lnTo>
                <a:close/>
              </a:path>
            </a:pathLst>
          </a:custGeom>
          <a:solidFill>
            <a:srgbClr val="D97757"/>
          </a:solidFill>
          <a:ln/>
        </p:spPr>
      </p:sp>
      <p:sp>
        <p:nvSpPr>
          <p:cNvPr id="24" name="Shape 19"/>
          <p:cNvSpPr/>
          <p:nvPr/>
        </p:nvSpPr>
        <p:spPr>
          <a:xfrm>
            <a:off x="5159479" y="1539220"/>
            <a:ext cx="432692" cy="416739"/>
          </a:xfrm>
          <a:custGeom>
            <a:avLst/>
            <a:gdLst/>
            <a:ahLst/>
            <a:cxnLst/>
            <a:rect l="l" t="t" r="r" b="b"/>
            <a:pathLst>
              <a:path w="432692" h="416739">
                <a:moveTo>
                  <a:pt x="0" y="230822"/>
                </a:moveTo>
                <a:lnTo>
                  <a:pt x="4777" y="222652"/>
                </a:lnTo>
                <a:lnTo>
                  <a:pt x="9642" y="214535"/>
                </a:lnTo>
                <a:lnTo>
                  <a:pt x="14596" y="206471"/>
                </a:lnTo>
                <a:lnTo>
                  <a:pt x="19637" y="198461"/>
                </a:lnTo>
                <a:lnTo>
                  <a:pt x="24766" y="190507"/>
                </a:lnTo>
                <a:lnTo>
                  <a:pt x="29981" y="182609"/>
                </a:lnTo>
                <a:lnTo>
                  <a:pt x="35282" y="174769"/>
                </a:lnTo>
                <a:lnTo>
                  <a:pt x="40668" y="166987"/>
                </a:lnTo>
                <a:lnTo>
                  <a:pt x="46138" y="159264"/>
                </a:lnTo>
                <a:lnTo>
                  <a:pt x="51693" y="151601"/>
                </a:lnTo>
                <a:lnTo>
                  <a:pt x="57330" y="144000"/>
                </a:lnTo>
                <a:lnTo>
                  <a:pt x="63051" y="136460"/>
                </a:lnTo>
                <a:lnTo>
                  <a:pt x="68853" y="128983"/>
                </a:lnTo>
                <a:lnTo>
                  <a:pt x="74736" y="121570"/>
                </a:lnTo>
                <a:lnTo>
                  <a:pt x="80700" y="114222"/>
                </a:lnTo>
                <a:lnTo>
                  <a:pt x="86744" y="106939"/>
                </a:lnTo>
                <a:lnTo>
                  <a:pt x="92867" y="99722"/>
                </a:lnTo>
                <a:lnTo>
                  <a:pt x="99068" y="92573"/>
                </a:lnTo>
                <a:lnTo>
                  <a:pt x="105347" y="85491"/>
                </a:lnTo>
                <a:lnTo>
                  <a:pt x="111703" y="78479"/>
                </a:lnTo>
                <a:lnTo>
                  <a:pt x="118135" y="71536"/>
                </a:lnTo>
                <a:lnTo>
                  <a:pt x="124642" y="64664"/>
                </a:lnTo>
                <a:lnTo>
                  <a:pt x="131223" y="57863"/>
                </a:lnTo>
                <a:lnTo>
                  <a:pt x="137879" y="51135"/>
                </a:lnTo>
                <a:lnTo>
                  <a:pt x="144607" y="44479"/>
                </a:lnTo>
                <a:lnTo>
                  <a:pt x="151408" y="37898"/>
                </a:lnTo>
                <a:lnTo>
                  <a:pt x="158280" y="31390"/>
                </a:lnTo>
                <a:lnTo>
                  <a:pt x="165223" y="24959"/>
                </a:lnTo>
                <a:lnTo>
                  <a:pt x="172235" y="18603"/>
                </a:lnTo>
                <a:lnTo>
                  <a:pt x="179317" y="12324"/>
                </a:lnTo>
                <a:lnTo>
                  <a:pt x="186466" y="6123"/>
                </a:lnTo>
                <a:lnTo>
                  <a:pt x="193683" y="0"/>
                </a:lnTo>
                <a:lnTo>
                  <a:pt x="432692" y="284840"/>
                </a:lnTo>
                <a:lnTo>
                  <a:pt x="428568" y="288339"/>
                </a:lnTo>
                <a:lnTo>
                  <a:pt x="424483" y="291882"/>
                </a:lnTo>
                <a:lnTo>
                  <a:pt x="420436" y="295470"/>
                </a:lnTo>
                <a:lnTo>
                  <a:pt x="416429" y="299102"/>
                </a:lnTo>
                <a:lnTo>
                  <a:pt x="412462" y="302777"/>
                </a:lnTo>
                <a:lnTo>
                  <a:pt x="408535" y="306496"/>
                </a:lnTo>
                <a:lnTo>
                  <a:pt x="404649" y="310257"/>
                </a:lnTo>
                <a:lnTo>
                  <a:pt x="400804" y="314060"/>
                </a:lnTo>
                <a:lnTo>
                  <a:pt x="397001" y="317905"/>
                </a:lnTo>
                <a:lnTo>
                  <a:pt x="393240" y="321791"/>
                </a:lnTo>
                <a:lnTo>
                  <a:pt x="389521" y="325718"/>
                </a:lnTo>
                <a:lnTo>
                  <a:pt x="385846" y="329685"/>
                </a:lnTo>
                <a:lnTo>
                  <a:pt x="382214" y="333692"/>
                </a:lnTo>
                <a:lnTo>
                  <a:pt x="378626" y="337739"/>
                </a:lnTo>
                <a:lnTo>
                  <a:pt x="375083" y="341824"/>
                </a:lnTo>
                <a:lnTo>
                  <a:pt x="371584" y="345948"/>
                </a:lnTo>
                <a:lnTo>
                  <a:pt x="368131" y="350109"/>
                </a:lnTo>
                <a:lnTo>
                  <a:pt x="364723" y="354309"/>
                </a:lnTo>
                <a:lnTo>
                  <a:pt x="361361" y="358545"/>
                </a:lnTo>
                <a:lnTo>
                  <a:pt x="358045" y="362817"/>
                </a:lnTo>
                <a:lnTo>
                  <a:pt x="354776" y="367126"/>
                </a:lnTo>
                <a:lnTo>
                  <a:pt x="351555" y="371469"/>
                </a:lnTo>
                <a:lnTo>
                  <a:pt x="348381" y="375848"/>
                </a:lnTo>
                <a:lnTo>
                  <a:pt x="345255" y="380261"/>
                </a:lnTo>
                <a:lnTo>
                  <a:pt x="342177" y="384708"/>
                </a:lnTo>
                <a:lnTo>
                  <a:pt x="339148" y="389188"/>
                </a:lnTo>
                <a:lnTo>
                  <a:pt x="336168" y="393701"/>
                </a:lnTo>
                <a:lnTo>
                  <a:pt x="333237" y="398246"/>
                </a:lnTo>
                <a:lnTo>
                  <a:pt x="330357" y="402823"/>
                </a:lnTo>
                <a:lnTo>
                  <a:pt x="327526" y="407431"/>
                </a:lnTo>
                <a:lnTo>
                  <a:pt x="324745" y="412070"/>
                </a:lnTo>
                <a:lnTo>
                  <a:pt x="322016" y="416739"/>
                </a:lnTo>
                <a:close/>
              </a:path>
            </a:pathLst>
          </a:custGeom>
          <a:solidFill>
            <a:srgbClr val="87867F"/>
          </a:solidFill>
          <a:ln/>
        </p:spPr>
      </p:sp>
      <p:sp>
        <p:nvSpPr>
          <p:cNvPr id="25" name="Shape 20"/>
          <p:cNvSpPr/>
          <p:nvPr/>
        </p:nvSpPr>
        <p:spPr>
          <a:xfrm>
            <a:off x="5353162" y="1336238"/>
            <a:ext cx="557688" cy="487822"/>
          </a:xfrm>
          <a:custGeom>
            <a:avLst/>
            <a:gdLst/>
            <a:ahLst/>
            <a:cxnLst/>
            <a:rect l="l" t="t" r="r" b="b"/>
            <a:pathLst>
              <a:path w="557688" h="487822">
                <a:moveTo>
                  <a:pt x="0" y="202982"/>
                </a:moveTo>
                <a:lnTo>
                  <a:pt x="14631" y="190974"/>
                </a:lnTo>
                <a:lnTo>
                  <a:pt x="29521" y="179288"/>
                </a:lnTo>
                <a:lnTo>
                  <a:pt x="44663" y="167930"/>
                </a:lnTo>
                <a:lnTo>
                  <a:pt x="60048" y="156905"/>
                </a:lnTo>
                <a:lnTo>
                  <a:pt x="75671" y="146218"/>
                </a:lnTo>
                <a:lnTo>
                  <a:pt x="91522" y="135875"/>
                </a:lnTo>
                <a:lnTo>
                  <a:pt x="107596" y="125880"/>
                </a:lnTo>
                <a:lnTo>
                  <a:pt x="123884" y="116237"/>
                </a:lnTo>
                <a:lnTo>
                  <a:pt x="140378" y="106953"/>
                </a:lnTo>
                <a:lnTo>
                  <a:pt x="157071" y="98030"/>
                </a:lnTo>
                <a:lnTo>
                  <a:pt x="173955" y="89474"/>
                </a:lnTo>
                <a:lnTo>
                  <a:pt x="191021" y="81288"/>
                </a:lnTo>
                <a:lnTo>
                  <a:pt x="208262" y="73476"/>
                </a:lnTo>
                <a:lnTo>
                  <a:pt x="225669" y="66043"/>
                </a:lnTo>
                <a:lnTo>
                  <a:pt x="243234" y="58990"/>
                </a:lnTo>
                <a:lnTo>
                  <a:pt x="260949" y="52323"/>
                </a:lnTo>
                <a:lnTo>
                  <a:pt x="278805" y="46044"/>
                </a:lnTo>
                <a:lnTo>
                  <a:pt x="296793" y="40156"/>
                </a:lnTo>
                <a:lnTo>
                  <a:pt x="314906" y="34661"/>
                </a:lnTo>
                <a:lnTo>
                  <a:pt x="333135" y="29563"/>
                </a:lnTo>
                <a:lnTo>
                  <a:pt x="351470" y="24864"/>
                </a:lnTo>
                <a:lnTo>
                  <a:pt x="369903" y="20566"/>
                </a:lnTo>
                <a:lnTo>
                  <a:pt x="388426" y="16671"/>
                </a:lnTo>
                <a:lnTo>
                  <a:pt x="407030" y="13181"/>
                </a:lnTo>
                <a:lnTo>
                  <a:pt x="425705" y="10098"/>
                </a:lnTo>
                <a:lnTo>
                  <a:pt x="444443" y="7422"/>
                </a:lnTo>
                <a:lnTo>
                  <a:pt x="463234" y="5157"/>
                </a:lnTo>
                <a:lnTo>
                  <a:pt x="482071" y="3301"/>
                </a:lnTo>
                <a:lnTo>
                  <a:pt x="500944" y="1858"/>
                </a:lnTo>
                <a:lnTo>
                  <a:pt x="519844" y="826"/>
                </a:lnTo>
                <a:lnTo>
                  <a:pt x="538761" y="206"/>
                </a:lnTo>
                <a:lnTo>
                  <a:pt x="557688" y="0"/>
                </a:lnTo>
                <a:lnTo>
                  <a:pt x="557688" y="371832"/>
                </a:lnTo>
                <a:lnTo>
                  <a:pt x="546873" y="371950"/>
                </a:lnTo>
                <a:lnTo>
                  <a:pt x="536063" y="372304"/>
                </a:lnTo>
                <a:lnTo>
                  <a:pt x="525263" y="372894"/>
                </a:lnTo>
                <a:lnTo>
                  <a:pt x="514478" y="373719"/>
                </a:lnTo>
                <a:lnTo>
                  <a:pt x="503715" y="374779"/>
                </a:lnTo>
                <a:lnTo>
                  <a:pt x="492976" y="376074"/>
                </a:lnTo>
                <a:lnTo>
                  <a:pt x="482269" y="377602"/>
                </a:lnTo>
                <a:lnTo>
                  <a:pt x="471598" y="379364"/>
                </a:lnTo>
                <a:lnTo>
                  <a:pt x="460967" y="381358"/>
                </a:lnTo>
                <a:lnTo>
                  <a:pt x="450383" y="383584"/>
                </a:lnTo>
                <a:lnTo>
                  <a:pt x="439849" y="386040"/>
                </a:lnTo>
                <a:lnTo>
                  <a:pt x="429372" y="388725"/>
                </a:lnTo>
                <a:lnTo>
                  <a:pt x="418956" y="391638"/>
                </a:lnTo>
                <a:lnTo>
                  <a:pt x="408605" y="394778"/>
                </a:lnTo>
                <a:lnTo>
                  <a:pt x="398326" y="398143"/>
                </a:lnTo>
                <a:lnTo>
                  <a:pt x="388123" y="401731"/>
                </a:lnTo>
                <a:lnTo>
                  <a:pt x="378000" y="405541"/>
                </a:lnTo>
                <a:lnTo>
                  <a:pt x="367963" y="409571"/>
                </a:lnTo>
                <a:lnTo>
                  <a:pt x="358016" y="413819"/>
                </a:lnTo>
                <a:lnTo>
                  <a:pt x="348164" y="418282"/>
                </a:lnTo>
                <a:lnTo>
                  <a:pt x="338412" y="422960"/>
                </a:lnTo>
                <a:lnTo>
                  <a:pt x="328764" y="427849"/>
                </a:lnTo>
                <a:lnTo>
                  <a:pt x="319225" y="432948"/>
                </a:lnTo>
                <a:lnTo>
                  <a:pt x="309800" y="438253"/>
                </a:lnTo>
                <a:lnTo>
                  <a:pt x="300493" y="443763"/>
                </a:lnTo>
                <a:lnTo>
                  <a:pt x="291308" y="449475"/>
                </a:lnTo>
                <a:lnTo>
                  <a:pt x="282250" y="455385"/>
                </a:lnTo>
                <a:lnTo>
                  <a:pt x="273322" y="461492"/>
                </a:lnTo>
                <a:lnTo>
                  <a:pt x="264531" y="467792"/>
                </a:lnTo>
                <a:lnTo>
                  <a:pt x="255879" y="474283"/>
                </a:lnTo>
                <a:lnTo>
                  <a:pt x="247370" y="480960"/>
                </a:lnTo>
                <a:lnTo>
                  <a:pt x="239009" y="487822"/>
                </a:lnTo>
                <a:close/>
              </a:path>
            </a:pathLst>
          </a:custGeom>
          <a:solidFill>
            <a:srgbClr val="B0AEA5"/>
          </a:solidFill>
          <a:ln/>
        </p:spPr>
      </p:sp>
      <p:sp>
        <p:nvSpPr>
          <p:cNvPr id="26" name="Text 21"/>
          <p:cNvSpPr/>
          <p:nvPr/>
        </p:nvSpPr>
        <p:spPr>
          <a:xfrm>
            <a:off x="6969705" y="2430079"/>
            <a:ext cx="6115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排版攻击</a:t>
            </a:r>
            <a:endParaRPr lang="en-US" sz="563" dirty="0"/>
          </a:p>
        </p:txBody>
      </p:sp>
      <p:sp>
        <p:nvSpPr>
          <p:cNvPr id="27" name="Text 22"/>
          <p:cNvSpPr/>
          <p:nvPr/>
        </p:nvSpPr>
        <p:spPr>
          <a:xfrm>
            <a:off x="6969705" y="2501517"/>
            <a:ext cx="2326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(FigStep, SceneTAP等)</a:t>
            </a:r>
            <a:endParaRPr lang="en-US" sz="563" dirty="0"/>
          </a:p>
        </p:txBody>
      </p:sp>
      <p:sp>
        <p:nvSpPr>
          <p:cNvPr id="28" name="Text 23"/>
          <p:cNvSpPr/>
          <p:nvPr/>
        </p:nvSpPr>
        <p:spPr>
          <a:xfrm>
            <a:off x="3875046" y="2265957"/>
            <a:ext cx="932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视觉提示...</a:t>
            </a:r>
            <a:endParaRPr lang="en-US" sz="563" dirty="0"/>
          </a:p>
        </p:txBody>
      </p:sp>
      <p:sp>
        <p:nvSpPr>
          <p:cNvPr id="29" name="Text 24"/>
          <p:cNvSpPr/>
          <p:nvPr/>
        </p:nvSpPr>
        <p:spPr>
          <a:xfrm>
            <a:off x="3875046" y="2337394"/>
            <a:ext cx="932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(PPIA等)</a:t>
            </a:r>
            <a:endParaRPr lang="en-US" sz="563" dirty="0"/>
          </a:p>
        </p:txBody>
      </p:sp>
      <p:sp>
        <p:nvSpPr>
          <p:cNvPr id="30" name="Text 25"/>
          <p:cNvSpPr/>
          <p:nvPr/>
        </p:nvSpPr>
        <p:spPr>
          <a:xfrm>
            <a:off x="4088288" y="1505842"/>
            <a:ext cx="932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Agent安全</a:t>
            </a:r>
            <a:endParaRPr lang="en-US" sz="563" dirty="0"/>
          </a:p>
        </p:txBody>
      </p:sp>
      <p:sp>
        <p:nvSpPr>
          <p:cNvPr id="31" name="Text 26"/>
          <p:cNvSpPr/>
          <p:nvPr/>
        </p:nvSpPr>
        <p:spPr>
          <a:xfrm>
            <a:off x="4287300" y="1216430"/>
            <a:ext cx="11472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VLA与注意力劫持</a:t>
            </a:r>
            <a:endParaRPr lang="en-US" sz="563" dirty="0"/>
          </a:p>
        </p:txBody>
      </p:sp>
      <p:sp>
        <p:nvSpPr>
          <p:cNvPr id="32" name="Shape 27"/>
          <p:cNvSpPr/>
          <p:nvPr/>
        </p:nvSpPr>
        <p:spPr>
          <a:xfrm>
            <a:off x="7803473" y="1818084"/>
            <a:ext cx="1028100" cy="771525"/>
          </a:xfrm>
          <a:custGeom>
            <a:avLst/>
            <a:gdLst/>
            <a:ahLst/>
            <a:cxnLst/>
            <a:rect l="l" t="t" r="r" b="b"/>
            <a:pathLst>
              <a:path w="1028100" h="771525">
                <a:moveTo>
                  <a:pt x="0" y="0"/>
                </a:moveTo>
                <a:lnTo>
                  <a:pt x="1028100" y="0"/>
                </a:lnTo>
                <a:lnTo>
                  <a:pt x="1028100" y="771525"/>
                </a:lnTo>
                <a:lnTo>
                  <a:pt x="0" y="771525"/>
                </a:lnTo>
                <a:close/>
              </a:path>
            </a:pathLst>
          </a:custGeom>
          <a:noFill/>
          <a:ln/>
        </p:spPr>
      </p:sp>
      <p:sp>
        <p:nvSpPr>
          <p:cNvPr id="33" name="Shape 28"/>
          <p:cNvSpPr/>
          <p:nvPr/>
        </p:nvSpPr>
        <p:spPr>
          <a:xfrm>
            <a:off x="7839191" y="1875234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34" name="Text 29"/>
          <p:cNvSpPr/>
          <p:nvPr/>
        </p:nvSpPr>
        <p:spPr>
          <a:xfrm>
            <a:off x="8053504" y="1818084"/>
            <a:ext cx="6115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排版攻击</a:t>
            </a:r>
            <a:endParaRPr lang="en-US" sz="563" dirty="0"/>
          </a:p>
        </p:txBody>
      </p:sp>
      <p:sp>
        <p:nvSpPr>
          <p:cNvPr id="35" name="Text 30"/>
          <p:cNvSpPr/>
          <p:nvPr/>
        </p:nvSpPr>
        <p:spPr>
          <a:xfrm>
            <a:off x="8053504" y="1889522"/>
            <a:ext cx="23260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(FigStep, SceneTAP等)</a:t>
            </a:r>
            <a:endParaRPr lang="en-US" sz="563" dirty="0"/>
          </a:p>
        </p:txBody>
      </p:sp>
      <p:sp>
        <p:nvSpPr>
          <p:cNvPr id="36" name="Shape 31"/>
          <p:cNvSpPr/>
          <p:nvPr/>
        </p:nvSpPr>
        <p:spPr>
          <a:xfrm>
            <a:off x="7839191" y="2089547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D97757"/>
          </a:solidFill>
          <a:ln/>
        </p:spPr>
      </p:sp>
      <p:sp>
        <p:nvSpPr>
          <p:cNvPr id="37" name="Text 32"/>
          <p:cNvSpPr/>
          <p:nvPr/>
        </p:nvSpPr>
        <p:spPr>
          <a:xfrm>
            <a:off x="8053504" y="2032397"/>
            <a:ext cx="8258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视觉提示注入</a:t>
            </a:r>
            <a:endParaRPr lang="en-US" sz="563" dirty="0"/>
          </a:p>
        </p:txBody>
      </p:sp>
      <p:sp>
        <p:nvSpPr>
          <p:cNvPr id="38" name="Text 33"/>
          <p:cNvSpPr/>
          <p:nvPr/>
        </p:nvSpPr>
        <p:spPr>
          <a:xfrm>
            <a:off x="8053504" y="2103834"/>
            <a:ext cx="932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(PPIA等)</a:t>
            </a:r>
            <a:endParaRPr lang="en-US" sz="563" dirty="0"/>
          </a:p>
        </p:txBody>
      </p:sp>
      <p:sp>
        <p:nvSpPr>
          <p:cNvPr id="39" name="Shape 34"/>
          <p:cNvSpPr/>
          <p:nvPr/>
        </p:nvSpPr>
        <p:spPr>
          <a:xfrm>
            <a:off x="7839191" y="2282428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87867F"/>
          </a:solidFill>
          <a:ln/>
        </p:spPr>
      </p:sp>
      <p:sp>
        <p:nvSpPr>
          <p:cNvPr id="40" name="Text 35"/>
          <p:cNvSpPr/>
          <p:nvPr/>
        </p:nvSpPr>
        <p:spPr>
          <a:xfrm>
            <a:off x="8053504" y="2260997"/>
            <a:ext cx="9329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Agent安全</a:t>
            </a:r>
            <a:endParaRPr lang="en-US" sz="563" dirty="0"/>
          </a:p>
        </p:txBody>
      </p:sp>
      <p:sp>
        <p:nvSpPr>
          <p:cNvPr id="41" name="Shape 36"/>
          <p:cNvSpPr/>
          <p:nvPr/>
        </p:nvSpPr>
        <p:spPr>
          <a:xfrm>
            <a:off x="7839191" y="2453878"/>
            <a:ext cx="178594" cy="100013"/>
          </a:xfrm>
          <a:custGeom>
            <a:avLst/>
            <a:gdLst/>
            <a:ahLst/>
            <a:cxnLst/>
            <a:rect l="l" t="t" r="r" b="b"/>
            <a:pathLst>
              <a:path w="178594" h="100013">
                <a:moveTo>
                  <a:pt x="25003" y="0"/>
                </a:moveTo>
                <a:lnTo>
                  <a:pt x="153591" y="0"/>
                </a:lnTo>
                <a:lnTo>
                  <a:pt x="154817" y="30"/>
                </a:lnTo>
                <a:lnTo>
                  <a:pt x="156041" y="120"/>
                </a:lnTo>
                <a:lnTo>
                  <a:pt x="157259" y="271"/>
                </a:lnTo>
                <a:lnTo>
                  <a:pt x="158468" y="480"/>
                </a:lnTo>
                <a:lnTo>
                  <a:pt x="159666" y="749"/>
                </a:lnTo>
                <a:lnTo>
                  <a:pt x="160849" y="1077"/>
                </a:lnTo>
                <a:lnTo>
                  <a:pt x="162014" y="1462"/>
                </a:lnTo>
                <a:lnTo>
                  <a:pt x="163159" y="1903"/>
                </a:lnTo>
                <a:lnTo>
                  <a:pt x="164281" y="2401"/>
                </a:lnTo>
                <a:lnTo>
                  <a:pt x="165377" y="2952"/>
                </a:lnTo>
                <a:lnTo>
                  <a:pt x="166445" y="3557"/>
                </a:lnTo>
                <a:lnTo>
                  <a:pt x="167482" y="4214"/>
                </a:lnTo>
                <a:lnTo>
                  <a:pt x="168485" y="4920"/>
                </a:lnTo>
                <a:lnTo>
                  <a:pt x="169452" y="5675"/>
                </a:lnTo>
                <a:lnTo>
                  <a:pt x="170382" y="6477"/>
                </a:lnTo>
                <a:lnTo>
                  <a:pt x="171271" y="7323"/>
                </a:lnTo>
                <a:lnTo>
                  <a:pt x="172117" y="8212"/>
                </a:lnTo>
                <a:lnTo>
                  <a:pt x="172918" y="9141"/>
                </a:lnTo>
                <a:lnTo>
                  <a:pt x="173673" y="10109"/>
                </a:lnTo>
                <a:lnTo>
                  <a:pt x="174380" y="11112"/>
                </a:lnTo>
                <a:lnTo>
                  <a:pt x="175037" y="12149"/>
                </a:lnTo>
                <a:lnTo>
                  <a:pt x="175641" y="13217"/>
                </a:lnTo>
                <a:lnTo>
                  <a:pt x="176193" y="14313"/>
                </a:lnTo>
                <a:lnTo>
                  <a:pt x="176691" y="15435"/>
                </a:lnTo>
                <a:lnTo>
                  <a:pt x="177132" y="16580"/>
                </a:lnTo>
                <a:lnTo>
                  <a:pt x="177517" y="17745"/>
                </a:lnTo>
                <a:lnTo>
                  <a:pt x="177844" y="18928"/>
                </a:lnTo>
                <a:lnTo>
                  <a:pt x="178113" y="20125"/>
                </a:lnTo>
                <a:lnTo>
                  <a:pt x="178323" y="21334"/>
                </a:lnTo>
                <a:lnTo>
                  <a:pt x="178473" y="22552"/>
                </a:lnTo>
                <a:lnTo>
                  <a:pt x="178564" y="23776"/>
                </a:lnTo>
                <a:lnTo>
                  <a:pt x="178594" y="25003"/>
                </a:lnTo>
                <a:lnTo>
                  <a:pt x="178594" y="75009"/>
                </a:lnTo>
                <a:lnTo>
                  <a:pt x="178564" y="76236"/>
                </a:lnTo>
                <a:lnTo>
                  <a:pt x="178473" y="77460"/>
                </a:lnTo>
                <a:lnTo>
                  <a:pt x="178323" y="78678"/>
                </a:lnTo>
                <a:lnTo>
                  <a:pt x="178113" y="79887"/>
                </a:lnTo>
                <a:lnTo>
                  <a:pt x="177844" y="81085"/>
                </a:lnTo>
                <a:lnTo>
                  <a:pt x="177517" y="82267"/>
                </a:lnTo>
                <a:lnTo>
                  <a:pt x="177132" y="83433"/>
                </a:lnTo>
                <a:lnTo>
                  <a:pt x="176691" y="84578"/>
                </a:lnTo>
                <a:lnTo>
                  <a:pt x="176193" y="85700"/>
                </a:lnTo>
                <a:lnTo>
                  <a:pt x="175641" y="86796"/>
                </a:lnTo>
                <a:lnTo>
                  <a:pt x="175037" y="87864"/>
                </a:lnTo>
                <a:lnTo>
                  <a:pt x="174380" y="88900"/>
                </a:lnTo>
                <a:lnTo>
                  <a:pt x="173673" y="89904"/>
                </a:lnTo>
                <a:lnTo>
                  <a:pt x="172918" y="90871"/>
                </a:lnTo>
                <a:lnTo>
                  <a:pt x="172117" y="91800"/>
                </a:lnTo>
                <a:lnTo>
                  <a:pt x="171271" y="92689"/>
                </a:lnTo>
                <a:lnTo>
                  <a:pt x="170382" y="93535"/>
                </a:lnTo>
                <a:lnTo>
                  <a:pt x="169452" y="94337"/>
                </a:lnTo>
                <a:lnTo>
                  <a:pt x="168485" y="95092"/>
                </a:lnTo>
                <a:lnTo>
                  <a:pt x="167482" y="95799"/>
                </a:lnTo>
                <a:lnTo>
                  <a:pt x="166445" y="96455"/>
                </a:lnTo>
                <a:lnTo>
                  <a:pt x="165377" y="97060"/>
                </a:lnTo>
                <a:lnTo>
                  <a:pt x="164281" y="97612"/>
                </a:lnTo>
                <a:lnTo>
                  <a:pt x="163159" y="98109"/>
                </a:lnTo>
                <a:lnTo>
                  <a:pt x="162014" y="98551"/>
                </a:lnTo>
                <a:lnTo>
                  <a:pt x="160849" y="98936"/>
                </a:lnTo>
                <a:lnTo>
                  <a:pt x="159666" y="99263"/>
                </a:lnTo>
                <a:lnTo>
                  <a:pt x="158468" y="99532"/>
                </a:lnTo>
                <a:lnTo>
                  <a:pt x="157259" y="99742"/>
                </a:lnTo>
                <a:lnTo>
                  <a:pt x="156041" y="99892"/>
                </a:lnTo>
                <a:lnTo>
                  <a:pt x="154817" y="99982"/>
                </a:lnTo>
                <a:lnTo>
                  <a:pt x="153591" y="100013"/>
                </a:lnTo>
                <a:lnTo>
                  <a:pt x="25003" y="100013"/>
                </a:lnTo>
                <a:lnTo>
                  <a:pt x="23776" y="99982"/>
                </a:lnTo>
                <a:lnTo>
                  <a:pt x="22552" y="99892"/>
                </a:lnTo>
                <a:lnTo>
                  <a:pt x="21334" y="99742"/>
                </a:lnTo>
                <a:lnTo>
                  <a:pt x="20125" y="99532"/>
                </a:lnTo>
                <a:lnTo>
                  <a:pt x="18928" y="99263"/>
                </a:lnTo>
                <a:lnTo>
                  <a:pt x="17745" y="98936"/>
                </a:lnTo>
                <a:lnTo>
                  <a:pt x="16580" y="98551"/>
                </a:lnTo>
                <a:lnTo>
                  <a:pt x="15435" y="98109"/>
                </a:lnTo>
                <a:lnTo>
                  <a:pt x="14313" y="97612"/>
                </a:lnTo>
                <a:lnTo>
                  <a:pt x="13217" y="97060"/>
                </a:lnTo>
                <a:lnTo>
                  <a:pt x="12149" y="96455"/>
                </a:lnTo>
                <a:lnTo>
                  <a:pt x="11112" y="95799"/>
                </a:lnTo>
                <a:lnTo>
                  <a:pt x="10109" y="95092"/>
                </a:lnTo>
                <a:lnTo>
                  <a:pt x="9141" y="94337"/>
                </a:lnTo>
                <a:lnTo>
                  <a:pt x="8212" y="93535"/>
                </a:lnTo>
                <a:lnTo>
                  <a:pt x="7323" y="92689"/>
                </a:lnTo>
                <a:lnTo>
                  <a:pt x="6477" y="91800"/>
                </a:lnTo>
                <a:lnTo>
                  <a:pt x="5675" y="90871"/>
                </a:lnTo>
                <a:lnTo>
                  <a:pt x="4920" y="89904"/>
                </a:lnTo>
                <a:lnTo>
                  <a:pt x="4214" y="88900"/>
                </a:lnTo>
                <a:lnTo>
                  <a:pt x="3557" y="87864"/>
                </a:lnTo>
                <a:lnTo>
                  <a:pt x="2952" y="86796"/>
                </a:lnTo>
                <a:lnTo>
                  <a:pt x="2401" y="85700"/>
                </a:lnTo>
                <a:lnTo>
                  <a:pt x="1903" y="84578"/>
                </a:lnTo>
                <a:lnTo>
                  <a:pt x="1462" y="83433"/>
                </a:lnTo>
                <a:lnTo>
                  <a:pt x="1077" y="82267"/>
                </a:lnTo>
                <a:lnTo>
                  <a:pt x="749" y="81085"/>
                </a:lnTo>
                <a:lnTo>
                  <a:pt x="480" y="79887"/>
                </a:lnTo>
                <a:lnTo>
                  <a:pt x="271" y="78678"/>
                </a:lnTo>
                <a:lnTo>
                  <a:pt x="120" y="77460"/>
                </a:lnTo>
                <a:lnTo>
                  <a:pt x="30" y="76236"/>
                </a:lnTo>
                <a:lnTo>
                  <a:pt x="0" y="75009"/>
                </a:lnTo>
                <a:lnTo>
                  <a:pt x="0" y="25003"/>
                </a:lnTo>
                <a:lnTo>
                  <a:pt x="30" y="23776"/>
                </a:lnTo>
                <a:lnTo>
                  <a:pt x="120" y="22552"/>
                </a:lnTo>
                <a:lnTo>
                  <a:pt x="271" y="21334"/>
                </a:lnTo>
                <a:lnTo>
                  <a:pt x="480" y="20125"/>
                </a:lnTo>
                <a:lnTo>
                  <a:pt x="749" y="18928"/>
                </a:lnTo>
                <a:lnTo>
                  <a:pt x="1077" y="17745"/>
                </a:lnTo>
                <a:lnTo>
                  <a:pt x="1462" y="16580"/>
                </a:lnTo>
                <a:lnTo>
                  <a:pt x="1903" y="15435"/>
                </a:lnTo>
                <a:lnTo>
                  <a:pt x="2401" y="14313"/>
                </a:lnTo>
                <a:lnTo>
                  <a:pt x="2952" y="13217"/>
                </a:lnTo>
                <a:lnTo>
                  <a:pt x="3557" y="12149"/>
                </a:lnTo>
                <a:lnTo>
                  <a:pt x="4214" y="11112"/>
                </a:lnTo>
                <a:lnTo>
                  <a:pt x="4920" y="10109"/>
                </a:lnTo>
                <a:lnTo>
                  <a:pt x="5675" y="9141"/>
                </a:lnTo>
                <a:lnTo>
                  <a:pt x="6477" y="8212"/>
                </a:lnTo>
                <a:lnTo>
                  <a:pt x="7323" y="7323"/>
                </a:lnTo>
                <a:lnTo>
                  <a:pt x="8212" y="6477"/>
                </a:lnTo>
                <a:lnTo>
                  <a:pt x="9141" y="5675"/>
                </a:lnTo>
                <a:lnTo>
                  <a:pt x="10109" y="4920"/>
                </a:lnTo>
                <a:lnTo>
                  <a:pt x="11112" y="4214"/>
                </a:lnTo>
                <a:lnTo>
                  <a:pt x="12149" y="3557"/>
                </a:lnTo>
                <a:lnTo>
                  <a:pt x="13217" y="2952"/>
                </a:lnTo>
                <a:lnTo>
                  <a:pt x="14313" y="2401"/>
                </a:lnTo>
                <a:lnTo>
                  <a:pt x="15435" y="1903"/>
                </a:lnTo>
                <a:lnTo>
                  <a:pt x="16580" y="1462"/>
                </a:lnTo>
                <a:lnTo>
                  <a:pt x="17745" y="1077"/>
                </a:lnTo>
                <a:lnTo>
                  <a:pt x="18928" y="749"/>
                </a:lnTo>
                <a:lnTo>
                  <a:pt x="20125" y="480"/>
                </a:lnTo>
                <a:lnTo>
                  <a:pt x="21334" y="271"/>
                </a:lnTo>
                <a:lnTo>
                  <a:pt x="22552" y="120"/>
                </a:lnTo>
                <a:lnTo>
                  <a:pt x="23776" y="30"/>
                </a:lnTo>
                <a:lnTo>
                  <a:pt x="25003" y="0"/>
                </a:lnTo>
              </a:path>
            </a:pathLst>
          </a:custGeom>
          <a:solidFill>
            <a:srgbClr val="B0AEA5"/>
          </a:solidFill>
          <a:ln/>
        </p:spPr>
      </p:sp>
      <p:sp>
        <p:nvSpPr>
          <p:cNvPr id="42" name="Text 37"/>
          <p:cNvSpPr/>
          <p:nvPr/>
        </p:nvSpPr>
        <p:spPr>
          <a:xfrm>
            <a:off x="8053504" y="2432447"/>
            <a:ext cx="11472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3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VLA与注意力劫持</a:t>
            </a:r>
            <a:endParaRPr lang="en-US" sz="563" dirty="0"/>
          </a:p>
        </p:txBody>
      </p:sp>
      <p:sp>
        <p:nvSpPr>
          <p:cNvPr id="43" name="Shape 38"/>
          <p:cNvSpPr/>
          <p:nvPr/>
        </p:nvSpPr>
        <p:spPr>
          <a:xfrm>
            <a:off x="214313" y="3786188"/>
            <a:ext cx="8715375" cy="928688"/>
          </a:xfrm>
          <a:prstGeom prst="roundRect">
            <a:avLst>
              <a:gd name="adj" fmla="val 6059"/>
            </a:avLst>
          </a:prstGeom>
          <a:solidFill>
            <a:srgbClr val="C96442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75" y="3932634"/>
            <a:ext cx="71438" cy="7143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455526" y="3900488"/>
            <a:ext cx="16002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理论框架：攻击成功率分解公式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2824516" y="4118372"/>
            <a:ext cx="535781" cy="292894"/>
          </a:xfrm>
          <a:prstGeom prst="roundRect">
            <a:avLst>
              <a:gd name="adj" fmla="val 15229"/>
            </a:avLst>
          </a:prstGeom>
          <a:solidFill>
            <a:srgbClr val="FAF9F5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ASR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3503116" y="4168378"/>
            <a:ext cx="107156" cy="1928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1300" dirty="0"/>
          </a:p>
        </p:txBody>
      </p:sp>
      <p:sp>
        <p:nvSpPr>
          <p:cNvPr id="48" name="Text 42"/>
          <p:cNvSpPr/>
          <p:nvPr/>
        </p:nvSpPr>
        <p:spPr>
          <a:xfrm>
            <a:off x="3755938" y="4093369"/>
            <a:ext cx="600075" cy="214313"/>
          </a:xfrm>
          <a:prstGeom prst="roundRect">
            <a:avLst>
              <a:gd name="adj" fmla="val 28444"/>
            </a:avLst>
          </a:prstGeom>
          <a:solidFill>
            <a:srgbClr val="FAF9F5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P(被看见)</a:t>
            </a:r>
            <a:endParaRPr lang="en-US" sz="700" dirty="0"/>
          </a:p>
        </p:txBody>
      </p:sp>
      <p:sp>
        <p:nvSpPr>
          <p:cNvPr id="49" name="Text 43"/>
          <p:cNvSpPr/>
          <p:nvPr/>
        </p:nvSpPr>
        <p:spPr>
          <a:xfrm>
            <a:off x="3755938" y="4336256"/>
            <a:ext cx="60007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文字区域注意力</a:t>
            </a:r>
            <a:endParaRPr lang="en-US" sz="500" dirty="0"/>
          </a:p>
        </p:txBody>
      </p:sp>
      <p:sp>
        <p:nvSpPr>
          <p:cNvPr id="50" name="Text 44"/>
          <p:cNvSpPr/>
          <p:nvPr/>
        </p:nvSpPr>
        <p:spPr>
          <a:xfrm>
            <a:off x="4499670" y="4186238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4736195" y="4093369"/>
            <a:ext cx="600075" cy="214313"/>
          </a:xfrm>
          <a:prstGeom prst="roundRect">
            <a:avLst>
              <a:gd name="adj" fmla="val 28444"/>
            </a:avLst>
          </a:prstGeom>
          <a:solidFill>
            <a:srgbClr val="FAF9F5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P(被理解)</a:t>
            </a:r>
            <a:endParaRPr lang="en-US" sz="700" dirty="0"/>
          </a:p>
        </p:txBody>
      </p:sp>
      <p:sp>
        <p:nvSpPr>
          <p:cNvPr id="52" name="Text 46"/>
          <p:cNvSpPr/>
          <p:nvPr/>
        </p:nvSpPr>
        <p:spPr>
          <a:xfrm>
            <a:off x="4736195" y="4336256"/>
            <a:ext cx="60007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语义解析能力</a:t>
            </a:r>
            <a:endParaRPr lang="en-US" sz="500" dirty="0"/>
          </a:p>
        </p:txBody>
      </p:sp>
      <p:sp>
        <p:nvSpPr>
          <p:cNvPr id="53" name="Text 47"/>
          <p:cNvSpPr/>
          <p:nvPr/>
        </p:nvSpPr>
        <p:spPr>
          <a:xfrm>
            <a:off x="5479926" y="4186238"/>
            <a:ext cx="92869" cy="157163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5716451" y="4093369"/>
            <a:ext cx="600075" cy="214313"/>
          </a:xfrm>
          <a:prstGeom prst="roundRect">
            <a:avLst>
              <a:gd name="adj" fmla="val 28444"/>
            </a:avLst>
          </a:prstGeom>
          <a:solidFill>
            <a:srgbClr val="FAF9F5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P(被服从)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5716451" y="4336256"/>
            <a:ext cx="60007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指令执行概率</a:t>
            </a:r>
            <a:endParaRPr lang="en-US" sz="500" dirty="0"/>
          </a:p>
        </p:txBody>
      </p:sp>
      <p:sp>
        <p:nvSpPr>
          <p:cNvPr id="56" name="Text 50"/>
          <p:cNvSpPr/>
          <p:nvPr/>
        </p:nvSpPr>
        <p:spPr>
          <a:xfrm>
            <a:off x="328613" y="4493419"/>
            <a:ext cx="84867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将攻击成功率分解为三个阶段，定位当前 ASR 瓶颈，为后续实验设计提供理论指引</a:t>
            </a:r>
            <a:endParaRPr lang="en-US" sz="600" dirty="0"/>
          </a:p>
        </p:txBody>
      </p:sp>
      <p:sp>
        <p:nvSpPr>
          <p:cNvPr id="57" name="Shape 51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58" name="Text 52"/>
          <p:cNvSpPr/>
          <p:nvPr/>
        </p:nvSpPr>
        <p:spPr>
          <a:xfrm>
            <a:off x="215931" y="4775597"/>
            <a:ext cx="1135856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VLM安全研究 · 理论框架与文献体系</a:t>
            </a:r>
            <a:endParaRPr lang="en-US" sz="500" dirty="0"/>
          </a:p>
        </p:txBody>
      </p:sp>
      <p:sp>
        <p:nvSpPr>
          <p:cNvPr id="59" name="Text 53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/ 12</a:t>
            </a:r>
            <a:endParaRPr lang="en-US" sz="50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3364" y="271407"/>
            <a:ext cx="2778919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VLM安全研究：实验进展与后续计划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3364" y="477850"/>
            <a:ext cx="2778919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Progress &amp; Future Research Plan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67911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66640" y="378619"/>
            <a:ext cx="36433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698748"/>
            <a:ext cx="4300538" cy="3050381"/>
          </a:xfrm>
          <a:prstGeom prst="roundRect">
            <a:avLst>
              <a:gd name="adj" fmla="val 562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8612" y="814388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38" y="892969"/>
            <a:ext cx="71438" cy="71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2800" y="860822"/>
            <a:ext cx="142875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SceneTAP复现与工程化改造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8613" y="1100807"/>
            <a:ext cx="4071938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复现CVPR 2025论文SceneTAP，将单体脚本重构为</a:t>
            </a:r>
            <a:pPr algn="l" indent="0" marL="0">
              <a:buNone/>
            </a:pPr>
            <a:r>
              <a:rPr lang="en-US" sz="6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三阶段独立流水线</a:t>
            </a:r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，适配集群环境。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328613" y="1295753"/>
            <a:ext cx="4071938" cy="364331"/>
          </a:xfrm>
          <a:prstGeom prst="roundRect">
            <a:avLst>
              <a:gd name="adj" fmla="val 7382"/>
            </a:avLst>
          </a:prstGeom>
          <a:solidFill>
            <a:srgbClr val="F5F4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07" y="1383655"/>
            <a:ext cx="50006" cy="500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4035" y="1372939"/>
            <a:ext cx="1378744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攻击规划 → 渲染 → 评估三阶段拆分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494035" y="1495778"/>
            <a:ext cx="170021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每阶段独立运行、支持断点续跑、标准JSON输出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328613" y="1705738"/>
            <a:ext cx="4071938" cy="364331"/>
          </a:xfrm>
          <a:prstGeom prst="roundRect">
            <a:avLst>
              <a:gd name="adj" fmla="val 7382"/>
            </a:avLst>
          </a:prstGeom>
          <a:solidFill>
            <a:srgbClr val="F5F4E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7" y="1793639"/>
            <a:ext cx="50006" cy="500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249" y="1782924"/>
            <a:ext cx="151447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SoM分割 + TextDiffuser渲染 + VLM评估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492807" y="1905763"/>
            <a:ext cx="1807369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完整跑通场景一致的排版攻击流程，已产出对抗图像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328613" y="2115722"/>
            <a:ext cx="4071938" cy="364331"/>
          </a:xfrm>
          <a:prstGeom prst="roundRect">
            <a:avLst>
              <a:gd name="adj" fmla="val 7382"/>
            </a:avLst>
          </a:prstGeom>
          <a:solidFill>
            <a:srgbClr val="F5F4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07" y="2203624"/>
            <a:ext cx="50006" cy="500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92807" y="2192908"/>
            <a:ext cx="942975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环境兼容性与数据集适配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493030" y="2315747"/>
            <a:ext cx="204311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双conda环境隔离、pydantic降级、7种任务类型数据集转换</a:t>
            </a:r>
            <a:endParaRPr lang="en-US" sz="600" dirty="0"/>
          </a:p>
        </p:txBody>
      </p:sp>
      <p:sp>
        <p:nvSpPr>
          <p:cNvPr id="24" name="Shape 18"/>
          <p:cNvSpPr/>
          <p:nvPr/>
        </p:nvSpPr>
        <p:spPr>
          <a:xfrm>
            <a:off x="4629150" y="698748"/>
            <a:ext cx="4300538" cy="3050381"/>
          </a:xfrm>
          <a:prstGeom prst="roundRect">
            <a:avLst>
              <a:gd name="adj" fmla="val 562"/>
            </a:avLst>
          </a:prstGeom>
          <a:solidFill>
            <a:srgbClr val="141413"/>
          </a:solidFill>
          <a:ln/>
        </p:spPr>
      </p:sp>
      <p:sp>
        <p:nvSpPr>
          <p:cNvPr id="25" name="Shape 19"/>
          <p:cNvSpPr/>
          <p:nvPr/>
        </p:nvSpPr>
        <p:spPr>
          <a:xfrm>
            <a:off x="4743450" y="814388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D9775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975" y="892969"/>
            <a:ext cx="71438" cy="714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29200" y="860822"/>
            <a:ext cx="12573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白盒注意力分析测试框架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743450" y="1100807"/>
            <a:ext cx="4071938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自建实验仓库，对LLaVA-1.5-7B进行</a:t>
            </a:r>
            <a:pPr algn="l" indent="0" marL="0">
              <a:buNone/>
            </a:pPr>
            <a:r>
              <a:rPr lang="en-US" sz="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白盒注意力提取</a:t>
            </a:r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，建立完整的实验-分析-可视化流水线。</a:t>
            </a:r>
            <a:endParaRPr lang="en-US" sz="600" dirty="0"/>
          </a:p>
        </p:txBody>
      </p:sp>
      <p:sp>
        <p:nvSpPr>
          <p:cNvPr id="29" name="Shape 22"/>
          <p:cNvSpPr/>
          <p:nvPr/>
        </p:nvSpPr>
        <p:spPr>
          <a:xfrm>
            <a:off x="4743450" y="1295753"/>
            <a:ext cx="4071938" cy="350044"/>
          </a:xfrm>
          <a:prstGeom prst="roundRect">
            <a:avLst>
              <a:gd name="adj" fmla="val 7997"/>
            </a:avLst>
          </a:prstGeom>
          <a:solidFill>
            <a:srgbClr val="30302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44" y="1383655"/>
            <a:ext cx="50006" cy="500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07645" y="1351508"/>
            <a:ext cx="6858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双通道注意力提取</a:t>
            </a:r>
            <a:endParaRPr lang="en-US" sz="600" dirty="0"/>
          </a:p>
        </p:txBody>
      </p:sp>
      <p:sp>
        <p:nvSpPr>
          <p:cNvPr id="32" name="Text 24"/>
          <p:cNvSpPr/>
          <p:nvPr/>
        </p:nvSpPr>
        <p:spPr>
          <a:xfrm>
            <a:off x="4800600" y="1481491"/>
            <a:ext cx="395763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交叉注意力（LLM生成层）+ 视觉自注意力（CLIP ViT），576个patch级精度</a:t>
            </a:r>
            <a:endParaRPr lang="en-US" sz="600" dirty="0"/>
          </a:p>
        </p:txBody>
      </p:sp>
      <p:sp>
        <p:nvSpPr>
          <p:cNvPr id="33" name="Shape 25"/>
          <p:cNvSpPr/>
          <p:nvPr/>
        </p:nvSpPr>
        <p:spPr>
          <a:xfrm>
            <a:off x="4743450" y="1691450"/>
            <a:ext cx="4071938" cy="350044"/>
          </a:xfrm>
          <a:prstGeom prst="roundRect">
            <a:avLst>
              <a:gd name="adj" fmla="val 7997"/>
            </a:avLst>
          </a:prstGeom>
          <a:solidFill>
            <a:srgbClr val="30302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544" y="1779352"/>
            <a:ext cx="50006" cy="5000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07645" y="1747205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三层区域注意力量化</a:t>
            </a:r>
            <a:endParaRPr lang="en-US" sz="600" dirty="0"/>
          </a:p>
        </p:txBody>
      </p:sp>
      <p:sp>
        <p:nvSpPr>
          <p:cNvPr id="36" name="Text 27"/>
          <p:cNvSpPr/>
          <p:nvPr/>
        </p:nvSpPr>
        <p:spPr>
          <a:xfrm>
            <a:off x="4800600" y="1877188"/>
            <a:ext cx="395763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BBox / Patch BBox / Expanded BBox，面积重叠掩码精确计算</a:t>
            </a:r>
            <a:endParaRPr lang="en-US" sz="600" dirty="0"/>
          </a:p>
        </p:txBody>
      </p:sp>
      <p:sp>
        <p:nvSpPr>
          <p:cNvPr id="37" name="Shape 28"/>
          <p:cNvSpPr/>
          <p:nvPr/>
        </p:nvSpPr>
        <p:spPr>
          <a:xfrm>
            <a:off x="4743450" y="2087147"/>
            <a:ext cx="4071938" cy="350044"/>
          </a:xfrm>
          <a:prstGeom prst="roundRect">
            <a:avLst>
              <a:gd name="adj" fmla="val 7997"/>
            </a:avLst>
          </a:prstGeom>
          <a:solidFill>
            <a:srgbClr val="30302E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544" y="2175049"/>
            <a:ext cx="50006" cy="5000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07645" y="2142902"/>
            <a:ext cx="914400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实验-分析-可视化全流程</a:t>
            </a:r>
            <a:endParaRPr lang="en-US" sz="600" dirty="0"/>
          </a:p>
        </p:txBody>
      </p:sp>
      <p:sp>
        <p:nvSpPr>
          <p:cNvPr id="40" name="Text 30"/>
          <p:cNvSpPr/>
          <p:nvPr/>
        </p:nvSpPr>
        <p:spPr>
          <a:xfrm>
            <a:off x="4800600" y="2272885"/>
            <a:ext cx="3957638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自动生成CSV/JSON/npz注意力数组 + 箱线图 + 热力图，无缝衔接SceneTAP输出</a:t>
            </a:r>
            <a:endParaRPr lang="en-US" sz="600" dirty="0"/>
          </a:p>
        </p:txBody>
      </p:sp>
      <p:sp>
        <p:nvSpPr>
          <p:cNvPr id="41" name="Shape 31"/>
          <p:cNvSpPr/>
          <p:nvPr/>
        </p:nvSpPr>
        <p:spPr>
          <a:xfrm>
            <a:off x="214313" y="3863429"/>
            <a:ext cx="8715375" cy="850106"/>
          </a:xfrm>
          <a:prstGeom prst="roundRect">
            <a:avLst>
              <a:gd name="adj" fmla="val 7231"/>
            </a:avLst>
          </a:prstGeom>
          <a:solidFill>
            <a:srgbClr val="C96442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775" y="4008537"/>
            <a:ext cx="71438" cy="7143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55526" y="3976390"/>
            <a:ext cx="10287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研究进展与后续计划</a:t>
            </a:r>
            <a:endParaRPr lang="en-US" sz="900" dirty="0"/>
          </a:p>
        </p:txBody>
      </p:sp>
      <p:sp>
        <p:nvSpPr>
          <p:cNvPr id="44" name="Text 33"/>
          <p:cNvSpPr/>
          <p:nvPr/>
        </p:nvSpPr>
        <p:spPr>
          <a:xfrm>
            <a:off x="328613" y="4183559"/>
            <a:ext cx="3714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当前进展</a:t>
            </a:r>
            <a:endParaRPr lang="en-US" sz="700" dirty="0"/>
          </a:p>
        </p:txBody>
      </p:sp>
      <p:sp>
        <p:nvSpPr>
          <p:cNvPr id="45" name="Text 34"/>
          <p:cNvSpPr/>
          <p:nvPr/>
        </p:nvSpPr>
        <p:spPr>
          <a:xfrm>
            <a:off x="328613" y="4327773"/>
            <a:ext cx="4186238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已完成SceneTAP三阶段流程跑通，产出场景对抗图像；建立白盒注意力提取与三层区域量化框架；完成首批注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意力与ASR统计分析实验。</a:t>
            </a:r>
            <a:endParaRPr lang="en-US" sz="600" dirty="0"/>
          </a:p>
        </p:txBody>
      </p:sp>
      <p:sp>
        <p:nvSpPr>
          <p:cNvPr id="46" name="Text 35"/>
          <p:cNvSpPr/>
          <p:nvPr/>
        </p:nvSpPr>
        <p:spPr>
          <a:xfrm>
            <a:off x="4629150" y="4183559"/>
            <a:ext cx="371475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后续计划</a:t>
            </a:r>
            <a:endParaRPr lang="en-US" sz="700" dirty="0"/>
          </a:p>
        </p:txBody>
      </p:sp>
      <p:sp>
        <p:nvSpPr>
          <p:cNvPr id="47" name="Text 36"/>
          <p:cNvSpPr/>
          <p:nvPr/>
        </p:nvSpPr>
        <p:spPr>
          <a:xfrm>
            <a:off x="4629150" y="4327773"/>
            <a:ext cx="4186238" cy="2714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设计辅助视觉组件引导模型注意力聚焦于攻击文字区域，建立"注意力分布→攻击成功率"的因果关联，探索可解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释的攻防机制，目标产出CCF-B及以上论文。</a:t>
            </a:r>
            <a:endParaRPr lang="en-US" sz="600" dirty="0"/>
          </a:p>
        </p:txBody>
      </p:sp>
      <p:sp>
        <p:nvSpPr>
          <p:cNvPr id="48" name="Shape 37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49" name="Text 38"/>
          <p:cNvSpPr/>
          <p:nvPr/>
        </p:nvSpPr>
        <p:spPr>
          <a:xfrm>
            <a:off x="215931" y="4775597"/>
            <a:ext cx="1135856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VLM安全研究 · 实验进展与后续计划</a:t>
            </a:r>
            <a:endParaRPr lang="en-US" sz="500" dirty="0"/>
          </a:p>
        </p:txBody>
      </p:sp>
      <p:sp>
        <p:nvSpPr>
          <p:cNvPr id="50" name="Text 39"/>
          <p:cNvSpPr/>
          <p:nvPr/>
        </p:nvSpPr>
        <p:spPr>
          <a:xfrm>
            <a:off x="8702148" y="4786313"/>
            <a:ext cx="228600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 / 12</a:t>
            </a:r>
            <a:endParaRPr lang="en-US" sz="50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4703" y="271407"/>
            <a:ext cx="1300163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工程项目经历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703" y="477850"/>
            <a:ext cx="13001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Project Experience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07412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07816" y="378619"/>
            <a:ext cx="42148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 / 12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214313" y="700088"/>
            <a:ext cx="4300538" cy="2000250"/>
          </a:xfrm>
          <a:prstGeom prst="roundRect">
            <a:avLst>
              <a:gd name="adj" fmla="val 1306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8612" y="814388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38" y="892969"/>
            <a:ext cx="71438" cy="714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14363" y="867966"/>
            <a:ext cx="1178719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可靠广播协议形式化验证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857625" y="864394"/>
            <a:ext cx="542925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函数语言课程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28613" y="1099412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利用Maude从底层构建协议完整形式化模型，通过模型检测证明性质。</a:t>
            </a:r>
            <a:endParaRPr lang="en-US" sz="7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57" y="1338002"/>
            <a:ext cx="50006" cy="500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597" y="1305855"/>
            <a:ext cx="189309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Maude建模：节点状态、消息结构、网络拓扑演变</a:t>
            </a:r>
            <a:endParaRPr lang="en-US" sz="6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57" y="1480877"/>
            <a:ext cx="50006" cy="500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4932" y="1448730"/>
            <a:ext cx="14287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LTL性质定义：安全性、活性、一致性</a:t>
            </a:r>
            <a:endParaRPr lang="en-US" sz="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57" y="1623752"/>
            <a:ext cx="50006" cy="500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541" y="1591605"/>
            <a:ext cx="1635919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挖掘隐蔽死锁：节点互相等待ACK引发死锁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327106" y="2457450"/>
            <a:ext cx="335756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Maude</a:t>
            </a:r>
            <a:endParaRPr lang="en-US" sz="500" dirty="0"/>
          </a:p>
        </p:txBody>
      </p:sp>
      <p:sp>
        <p:nvSpPr>
          <p:cNvPr id="20" name="Text 14"/>
          <p:cNvSpPr/>
          <p:nvPr/>
        </p:nvSpPr>
        <p:spPr>
          <a:xfrm>
            <a:off x="688144" y="2457450"/>
            <a:ext cx="235744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LTL</a:t>
            </a:r>
            <a:endParaRPr lang="en-US" sz="500" dirty="0"/>
          </a:p>
        </p:txBody>
      </p:sp>
      <p:sp>
        <p:nvSpPr>
          <p:cNvPr id="21" name="Text 15"/>
          <p:cNvSpPr/>
          <p:nvPr/>
        </p:nvSpPr>
        <p:spPr>
          <a:xfrm>
            <a:off x="950677" y="2457450"/>
            <a:ext cx="400050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模型检测</a:t>
            </a:r>
            <a:endParaRPr lang="en-US" sz="500" dirty="0"/>
          </a:p>
        </p:txBody>
      </p:sp>
      <p:sp>
        <p:nvSpPr>
          <p:cNvPr id="22" name="Shape 16"/>
          <p:cNvSpPr/>
          <p:nvPr/>
        </p:nvSpPr>
        <p:spPr>
          <a:xfrm>
            <a:off x="4629150" y="700088"/>
            <a:ext cx="4300538" cy="2000250"/>
          </a:xfrm>
          <a:prstGeom prst="roundRect">
            <a:avLst>
              <a:gd name="adj" fmla="val 1306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43450" y="814388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975" y="892969"/>
            <a:ext cx="71438" cy="7143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8977" y="867966"/>
            <a:ext cx="1364456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CDCL SAT求解器设计与实现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8343900" y="864394"/>
            <a:ext cx="471488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形式化课程</a:t>
            </a:r>
            <a:endParaRPr lang="en-US" sz="500" dirty="0"/>
          </a:p>
        </p:txBody>
      </p:sp>
      <p:sp>
        <p:nvSpPr>
          <p:cNvPr id="27" name="Text 20"/>
          <p:cNvSpPr/>
          <p:nvPr/>
        </p:nvSpPr>
        <p:spPr>
          <a:xfrm>
            <a:off x="4743450" y="1099412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C++完整实现CDCL算法，1000+测试用例对比Minisat性能。</a:t>
            </a:r>
            <a:endParaRPr lang="en-US" sz="7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394" y="1338002"/>
            <a:ext cx="50006" cy="500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849434" y="1305855"/>
            <a:ext cx="20788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核心算法：1UIP冲突分析、VSIDS启发式、双监视文字</a:t>
            </a:r>
            <a:endParaRPr lang="en-US" sz="6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3394" y="1480877"/>
            <a:ext cx="50006" cy="500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9378" y="1448730"/>
            <a:ext cx="183594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DIMACS CNF格式，与Minisat正确性与性能对比</a:t>
            </a:r>
            <a:endParaRPr lang="en-US" sz="6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3394" y="1623752"/>
            <a:ext cx="50006" cy="5000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850606" y="1591605"/>
            <a:ext cx="1614488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LaTeX报告：散点图、超时率图、加速比图</a:t>
            </a:r>
            <a:endParaRPr lang="en-US" sz="600" dirty="0"/>
          </a:p>
        </p:txBody>
      </p:sp>
      <p:sp>
        <p:nvSpPr>
          <p:cNvPr id="34" name="Text 24"/>
          <p:cNvSpPr/>
          <p:nvPr/>
        </p:nvSpPr>
        <p:spPr>
          <a:xfrm>
            <a:off x="4743115" y="2457450"/>
            <a:ext cx="250031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500" dirty="0"/>
          </a:p>
        </p:txBody>
      </p:sp>
      <p:sp>
        <p:nvSpPr>
          <p:cNvPr id="35" name="Text 25"/>
          <p:cNvSpPr/>
          <p:nvPr/>
        </p:nvSpPr>
        <p:spPr>
          <a:xfrm>
            <a:off x="5022224" y="2457450"/>
            <a:ext cx="307181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CDCL</a:t>
            </a:r>
            <a:endParaRPr lang="en-US" sz="500" dirty="0"/>
          </a:p>
        </p:txBody>
      </p:sp>
      <p:sp>
        <p:nvSpPr>
          <p:cNvPr id="36" name="Text 26"/>
          <p:cNvSpPr/>
          <p:nvPr/>
        </p:nvSpPr>
        <p:spPr>
          <a:xfrm>
            <a:off x="5357701" y="2457450"/>
            <a:ext cx="485775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Minisat对比</a:t>
            </a:r>
            <a:endParaRPr lang="en-US" sz="500" dirty="0"/>
          </a:p>
        </p:txBody>
      </p:sp>
      <p:sp>
        <p:nvSpPr>
          <p:cNvPr id="37" name="Shape 27"/>
          <p:cNvSpPr/>
          <p:nvPr/>
        </p:nvSpPr>
        <p:spPr>
          <a:xfrm>
            <a:off x="214313" y="2786063"/>
            <a:ext cx="4300538" cy="1928813"/>
          </a:xfrm>
          <a:prstGeom prst="roundRect">
            <a:avLst>
              <a:gd name="adj" fmla="val 1405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328612" y="2900363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138" y="2978944"/>
            <a:ext cx="71438" cy="7143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13470" y="2953941"/>
            <a:ext cx="1007269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EQ_Master 校创项目</a:t>
            </a:r>
            <a:endParaRPr lang="en-US" sz="800" dirty="0"/>
          </a:p>
        </p:txBody>
      </p:sp>
      <p:sp>
        <p:nvSpPr>
          <p:cNvPr id="41" name="Text 30"/>
          <p:cNvSpPr/>
          <p:nvPr/>
        </p:nvSpPr>
        <p:spPr>
          <a:xfrm>
            <a:off x="3684501" y="2961084"/>
            <a:ext cx="714375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NEXT</a:t>
            </a:r>
            <a:endParaRPr lang="en-US" sz="500" dirty="0"/>
          </a:p>
        </p:txBody>
      </p:sp>
      <p:sp>
        <p:nvSpPr>
          <p:cNvPr id="42" name="Text 31"/>
          <p:cNvSpPr/>
          <p:nvPr/>
        </p:nvSpPr>
        <p:spPr>
          <a:xfrm>
            <a:off x="328613" y="3185387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HarmonyOS NEXT应用"AI赋能的情商提升平台"，核心前端开发。</a:t>
            </a:r>
            <a:endParaRPr lang="en-US" sz="7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8557" y="3423977"/>
            <a:ext cx="50006" cy="5000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34653" y="3391830"/>
            <a:ext cx="231457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每日分享模块：主页面+三个分类视图+Banner+动态数据更新</a:t>
            </a:r>
            <a:endParaRPr lang="en-US" sz="6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557" y="3566852"/>
            <a:ext cx="50006" cy="5000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434597" y="3534705"/>
            <a:ext cx="1850231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热度榜模块：列表+详情+Converter数据转换架构</a:t>
            </a:r>
            <a:endParaRPr lang="en-US" sz="6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557" y="3709727"/>
            <a:ext cx="50006" cy="50006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434653" y="3677580"/>
            <a:ext cx="1707356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个人主页模块 + AI交互工具类 + 8个SVG图标</a:t>
            </a:r>
            <a:endParaRPr lang="en-US" sz="600" dirty="0"/>
          </a:p>
        </p:txBody>
      </p:sp>
      <p:sp>
        <p:nvSpPr>
          <p:cNvPr id="49" name="Text 35"/>
          <p:cNvSpPr/>
          <p:nvPr/>
        </p:nvSpPr>
        <p:spPr>
          <a:xfrm>
            <a:off x="327831" y="4493419"/>
            <a:ext cx="314325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ArkTS</a:t>
            </a:r>
            <a:endParaRPr lang="en-US" sz="500" dirty="0"/>
          </a:p>
        </p:txBody>
      </p:sp>
      <p:sp>
        <p:nvSpPr>
          <p:cNvPr id="50" name="Text 36"/>
          <p:cNvSpPr/>
          <p:nvPr/>
        </p:nvSpPr>
        <p:spPr>
          <a:xfrm>
            <a:off x="669950" y="4493419"/>
            <a:ext cx="292894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ArkUI</a:t>
            </a:r>
            <a:endParaRPr lang="en-US" sz="500" dirty="0"/>
          </a:p>
        </p:txBody>
      </p:sp>
      <p:sp>
        <p:nvSpPr>
          <p:cNvPr id="51" name="Text 37"/>
          <p:cNvSpPr/>
          <p:nvPr/>
        </p:nvSpPr>
        <p:spPr>
          <a:xfrm>
            <a:off x="991977" y="4493419"/>
            <a:ext cx="585788" cy="107156"/>
          </a:xfrm>
          <a:prstGeom prst="roundRect">
            <a:avLst>
              <a:gd name="adj" fmla="val 56889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DevEco Studio</a:t>
            </a:r>
            <a:endParaRPr lang="en-US" sz="500" dirty="0"/>
          </a:p>
        </p:txBody>
      </p:sp>
      <p:sp>
        <p:nvSpPr>
          <p:cNvPr id="52" name="Shape 38"/>
          <p:cNvSpPr/>
          <p:nvPr/>
        </p:nvSpPr>
        <p:spPr>
          <a:xfrm>
            <a:off x="4629150" y="2786063"/>
            <a:ext cx="4300538" cy="1928813"/>
          </a:xfrm>
          <a:prstGeom prst="roundRect">
            <a:avLst>
              <a:gd name="adj" fmla="val 1405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4743450" y="2900363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1975" y="2978944"/>
            <a:ext cx="71438" cy="7143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5027861" y="2953941"/>
            <a:ext cx="992981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诗舟小程序 市创项目</a:t>
            </a:r>
            <a:endParaRPr lang="en-US" sz="800" dirty="0"/>
          </a:p>
        </p:txBody>
      </p:sp>
      <p:sp>
        <p:nvSpPr>
          <p:cNvPr id="56" name="Text 41"/>
          <p:cNvSpPr/>
          <p:nvPr/>
        </p:nvSpPr>
        <p:spPr>
          <a:xfrm>
            <a:off x="8558213" y="2950369"/>
            <a:ext cx="257175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运维</a:t>
            </a:r>
            <a:endParaRPr lang="en-US" sz="500" dirty="0"/>
          </a:p>
        </p:txBody>
      </p:sp>
      <p:sp>
        <p:nvSpPr>
          <p:cNvPr id="57" name="Text 42"/>
          <p:cNvSpPr/>
          <p:nvPr/>
        </p:nvSpPr>
        <p:spPr>
          <a:xfrm>
            <a:off x="4743450" y="3185387"/>
            <a:ext cx="4071938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接管前人工作，负责后端运维与服务器管理。</a:t>
            </a:r>
            <a:endParaRPr lang="en-US" sz="700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3394" y="3423977"/>
            <a:ext cx="50006" cy="50006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4851834" y="3391830"/>
            <a:ext cx="115014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MongoDB后台数据管理与维护</a:t>
            </a:r>
            <a:endParaRPr lang="en-US" sz="600" dirty="0"/>
          </a:p>
        </p:txBody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43394" y="3566852"/>
            <a:ext cx="50006" cy="50006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4849378" y="3534705"/>
            <a:ext cx="1193006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服务器SSL证书过期处理与部署</a:t>
            </a:r>
            <a:endParaRPr lang="en-US" sz="600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43394" y="3709727"/>
            <a:ext cx="50006" cy="50006"/>
          </a:xfrm>
          <a:prstGeom prst="rect">
            <a:avLst/>
          </a:prstGeom>
        </p:spPr>
      </p:pic>
      <p:sp>
        <p:nvSpPr>
          <p:cNvPr id="63" name="Text 45"/>
          <p:cNvSpPr/>
          <p:nvPr/>
        </p:nvSpPr>
        <p:spPr>
          <a:xfrm>
            <a:off x="4850495" y="3677580"/>
            <a:ext cx="771525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权限异常排查与修复</a:t>
            </a:r>
            <a:endParaRPr lang="en-US" sz="600" dirty="0"/>
          </a:p>
        </p:txBody>
      </p:sp>
      <p:sp>
        <p:nvSpPr>
          <p:cNvPr id="64" name="Text 46"/>
          <p:cNvSpPr/>
          <p:nvPr/>
        </p:nvSpPr>
        <p:spPr>
          <a:xfrm>
            <a:off x="4745124" y="4471988"/>
            <a:ext cx="428625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500" dirty="0"/>
          </a:p>
        </p:txBody>
      </p:sp>
      <p:sp>
        <p:nvSpPr>
          <p:cNvPr id="65" name="Text 47"/>
          <p:cNvSpPr/>
          <p:nvPr/>
        </p:nvSpPr>
        <p:spPr>
          <a:xfrm>
            <a:off x="5203664" y="4471988"/>
            <a:ext cx="250031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</a:t>
            </a:r>
            <a:endParaRPr lang="en-US" sz="500" dirty="0"/>
          </a:p>
        </p:txBody>
      </p:sp>
      <p:sp>
        <p:nvSpPr>
          <p:cNvPr id="66" name="Text 48"/>
          <p:cNvSpPr/>
          <p:nvPr/>
        </p:nvSpPr>
        <p:spPr>
          <a:xfrm>
            <a:off x="5481935" y="4471988"/>
            <a:ext cx="471488" cy="128588"/>
          </a:xfrm>
          <a:prstGeom prst="roundRect">
            <a:avLst>
              <a:gd name="adj" fmla="val 39506"/>
            </a:avLst>
          </a:prstGeom>
          <a:solidFill>
            <a:srgbClr val="F5F4ED"/>
          </a:solidFill>
          <a:ln/>
        </p:spPr>
        <p:txBody>
          <a:bodyPr wrap="none" lIns="48578" tIns="12144" rIns="48578" bIns="12144" rtlCol="0" anchor="t"/>
          <a:lstStyle/>
          <a:p>
            <a:pPr algn="l" indent="0" marL="0">
              <a:buNone/>
            </a:pPr>
            <a:r>
              <a:rPr lang="en-US" sz="500" dirty="0">
                <a:solidFill>
                  <a:srgbClr val="4D4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服务器运维</a:t>
            </a:r>
            <a:endParaRPr lang="en-US" sz="500" dirty="0"/>
          </a:p>
        </p:txBody>
      </p:sp>
      <p:sp>
        <p:nvSpPr>
          <p:cNvPr id="67" name="Shape 49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68" name="Text 50"/>
          <p:cNvSpPr/>
          <p:nvPr/>
        </p:nvSpPr>
        <p:spPr>
          <a:xfrm>
            <a:off x="214313" y="4775597"/>
            <a:ext cx="428625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工程项目经历</a:t>
            </a:r>
            <a:endParaRPr lang="en-US" sz="500" dirty="0"/>
          </a:p>
        </p:txBody>
      </p:sp>
      <p:sp>
        <p:nvSpPr>
          <p:cNvPr id="69" name="Text 51"/>
          <p:cNvSpPr/>
          <p:nvPr/>
        </p:nvSpPr>
        <p:spPr>
          <a:xfrm>
            <a:off x="8664420" y="4786313"/>
            <a:ext cx="264319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 / 12</a:t>
            </a:r>
            <a:endParaRPr lang="en-US" sz="500" dirty="0"/>
          </a:p>
        </p:txBody>
      </p:sp>
      <p:pic>
        <p:nvPicPr>
          <p:cNvPr id="70" name="Image 16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214313" y="271407"/>
            <a:ext cx="2400300" cy="2071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技术能力矩阵与系统性知识管理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14313" y="477850"/>
            <a:ext cx="2400300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Skills &amp; Systematic Knowledge Management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413775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8514569" y="378619"/>
            <a:ext cx="414338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 / 12</a:t>
            </a:r>
            <a:endParaRPr lang="en-US" sz="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71" y="728662"/>
            <a:ext cx="78581" cy="785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1160" y="700087"/>
            <a:ext cx="6858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技术能力矩阵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2861" y="908149"/>
            <a:ext cx="4186238" cy="907256"/>
          </a:xfrm>
          <a:prstGeom prst="roundRect">
            <a:avLst>
              <a:gd name="adj" fmla="val 634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4325" y="1158850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50" y="1237431"/>
            <a:ext cx="71438" cy="714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650" y="1201713"/>
            <a:ext cx="428625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编程语言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12874" y="1415300"/>
            <a:ext cx="3986213" cy="150019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Python（熟练）、C++、TypeScript/JavaScript，扎实的数据结构与算法基础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212861" y="1874341"/>
            <a:ext cx="4186238" cy="907256"/>
          </a:xfrm>
          <a:prstGeom prst="roundRect">
            <a:avLst>
              <a:gd name="adj" fmla="val 634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4325" y="2125042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50" y="2203624"/>
            <a:ext cx="71438" cy="714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9320" y="2167905"/>
            <a:ext cx="421481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AI与算法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312874" y="2381492"/>
            <a:ext cx="3986213" cy="150019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PyTorch深度学习框架、图神经网络与注意力机制、多模态大模型API调用与提示词工程</a:t>
            </a:r>
            <a:endParaRPr lang="en-US" sz="700" dirty="0"/>
          </a:p>
        </p:txBody>
      </p:sp>
      <p:sp>
        <p:nvSpPr>
          <p:cNvPr id="19" name="Shape 14"/>
          <p:cNvSpPr/>
          <p:nvPr/>
        </p:nvSpPr>
        <p:spPr>
          <a:xfrm>
            <a:off x="212861" y="2840534"/>
            <a:ext cx="4186238" cy="907256"/>
          </a:xfrm>
          <a:prstGeom prst="roundRect">
            <a:avLst>
              <a:gd name="adj" fmla="val 634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14325" y="3017007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50" y="3095588"/>
            <a:ext cx="71438" cy="714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645" y="3059869"/>
            <a:ext cx="835819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Agent使用经验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312874" y="3272730"/>
            <a:ext cx="3986213" cy="300038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熟练使用Codex、Trae等AI编程工具，对Rule、Skill、MCP等机制使用熟练，善于利用AI工具实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现开发与运维自动化</a:t>
            </a:r>
            <a:endParaRPr lang="en-US" sz="700" dirty="0"/>
          </a:p>
        </p:txBody>
      </p:sp>
      <p:sp>
        <p:nvSpPr>
          <p:cNvPr id="24" name="Shape 18"/>
          <p:cNvSpPr/>
          <p:nvPr/>
        </p:nvSpPr>
        <p:spPr>
          <a:xfrm>
            <a:off x="212861" y="3806726"/>
            <a:ext cx="4186238" cy="907256"/>
          </a:xfrm>
          <a:prstGeom prst="roundRect">
            <a:avLst>
              <a:gd name="adj" fmla="val 6349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4325" y="3983199"/>
            <a:ext cx="228600" cy="228600"/>
          </a:xfrm>
          <a:prstGeom prst="roundRect">
            <a:avLst>
              <a:gd name="adj" fmla="val 18750"/>
            </a:avLst>
          </a:prstGeom>
          <a:solidFill>
            <a:srgbClr val="C9644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50" y="4061780"/>
            <a:ext cx="71438" cy="714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8650" y="4026061"/>
            <a:ext cx="857250" cy="142875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工程化与开发环境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312874" y="4238923"/>
            <a:ext cx="3986213" cy="300038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Git高级操作（submodule/代理/换源）、conda多环境管理、Docker容器化、集群sbatch批量任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务、Kaggle GPU推理</a:t>
            </a:r>
            <a:endParaRPr lang="en-US" sz="700" dirty="0"/>
          </a:p>
        </p:txBody>
      </p:sp>
      <p:sp>
        <p:nvSpPr>
          <p:cNvPr id="29" name="Shape 22"/>
          <p:cNvSpPr/>
          <p:nvPr/>
        </p:nvSpPr>
        <p:spPr>
          <a:xfrm>
            <a:off x="4513399" y="700088"/>
            <a:ext cx="4414838" cy="4014788"/>
          </a:xfrm>
          <a:prstGeom prst="roundRect">
            <a:avLst>
              <a:gd name="adj" fmla="val 324"/>
            </a:avLst>
          </a:prstGeom>
          <a:solidFill>
            <a:srgbClr val="141413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4685" y="832247"/>
            <a:ext cx="92869" cy="92869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73141" y="800100"/>
            <a:ext cx="642938" cy="157163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个人知识库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7800863" y="821531"/>
            <a:ext cx="1014413" cy="114300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· 长期系统性维护</a:t>
            </a:r>
            <a:endParaRPr lang="en-US" sz="600" dirty="0"/>
          </a:p>
        </p:txBody>
      </p:sp>
      <p:sp>
        <p:nvSpPr>
          <p:cNvPr id="33" name="Shape 25"/>
          <p:cNvSpPr/>
          <p:nvPr/>
        </p:nvSpPr>
        <p:spPr>
          <a:xfrm>
            <a:off x="4627922" y="1014413"/>
            <a:ext cx="1335881" cy="442912"/>
          </a:xfrm>
          <a:prstGeom prst="roundRect">
            <a:avLst>
              <a:gd name="adj" fmla="val 4995"/>
            </a:avLst>
          </a:prstGeom>
          <a:solidFill>
            <a:srgbClr val="30302E"/>
          </a:solidFill>
          <a:ln/>
        </p:spPr>
      </p:sp>
      <p:sp>
        <p:nvSpPr>
          <p:cNvPr id="34" name="Text 26"/>
          <p:cNvSpPr/>
          <p:nvPr/>
        </p:nvSpPr>
        <p:spPr>
          <a:xfrm>
            <a:off x="4685072" y="1071563"/>
            <a:ext cx="1221581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783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4685072" y="1300163"/>
            <a:ext cx="1221581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篇笔记</a:t>
            </a:r>
            <a:endParaRPr lang="en-US" sz="500" dirty="0"/>
          </a:p>
        </p:txBody>
      </p:sp>
      <p:sp>
        <p:nvSpPr>
          <p:cNvPr id="36" name="Shape 28"/>
          <p:cNvSpPr/>
          <p:nvPr/>
        </p:nvSpPr>
        <p:spPr>
          <a:xfrm>
            <a:off x="6052877" y="1014413"/>
            <a:ext cx="1335881" cy="442912"/>
          </a:xfrm>
          <a:prstGeom prst="roundRect">
            <a:avLst>
              <a:gd name="adj" fmla="val 4995"/>
            </a:avLst>
          </a:prstGeom>
          <a:solidFill>
            <a:srgbClr val="30302E"/>
          </a:solidFill>
          <a:ln/>
        </p:spPr>
      </p:sp>
      <p:sp>
        <p:nvSpPr>
          <p:cNvPr id="37" name="Text 29"/>
          <p:cNvSpPr/>
          <p:nvPr/>
        </p:nvSpPr>
        <p:spPr>
          <a:xfrm>
            <a:off x="6110027" y="1071563"/>
            <a:ext cx="1221581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396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6110027" y="1300163"/>
            <a:ext cx="1221581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个图表资源</a:t>
            </a:r>
            <a:endParaRPr lang="en-US" sz="500" dirty="0"/>
          </a:p>
        </p:txBody>
      </p:sp>
      <p:sp>
        <p:nvSpPr>
          <p:cNvPr id="39" name="Shape 31"/>
          <p:cNvSpPr/>
          <p:nvPr/>
        </p:nvSpPr>
        <p:spPr>
          <a:xfrm>
            <a:off x="7477832" y="1014413"/>
            <a:ext cx="1335881" cy="442912"/>
          </a:xfrm>
          <a:prstGeom prst="roundRect">
            <a:avLst>
              <a:gd name="adj" fmla="val 4995"/>
            </a:avLst>
          </a:prstGeom>
          <a:solidFill>
            <a:srgbClr val="30302E"/>
          </a:solidFill>
          <a:ln/>
        </p:spPr>
      </p:sp>
      <p:sp>
        <p:nvSpPr>
          <p:cNvPr id="40" name="Text 32"/>
          <p:cNvSpPr/>
          <p:nvPr/>
        </p:nvSpPr>
        <p:spPr>
          <a:xfrm>
            <a:off x="7534982" y="1071563"/>
            <a:ext cx="1221581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7534982" y="1300163"/>
            <a:ext cx="1221581" cy="1000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门课程覆盖</a:t>
            </a:r>
            <a:endParaRPr lang="en-US" sz="500" dirty="0"/>
          </a:p>
        </p:txBody>
      </p:sp>
      <p:sp>
        <p:nvSpPr>
          <p:cNvPr id="42" name="Shape 34"/>
          <p:cNvSpPr/>
          <p:nvPr/>
        </p:nvSpPr>
        <p:spPr>
          <a:xfrm>
            <a:off x="4627699" y="1528763"/>
            <a:ext cx="4186238" cy="1514475"/>
          </a:xfrm>
          <a:prstGeom prst="roundRect">
            <a:avLst>
              <a:gd name="adj" fmla="val 2278"/>
            </a:avLst>
          </a:prstGeom>
          <a:solidFill>
            <a:srgbClr val="30302E"/>
          </a:solidFill>
          <a:ln/>
        </p:spPr>
      </p:sp>
      <p:sp>
        <p:nvSpPr>
          <p:cNvPr id="43" name="Shape 35"/>
          <p:cNvSpPr/>
          <p:nvPr/>
        </p:nvSpPr>
        <p:spPr>
          <a:xfrm>
            <a:off x="4711973" y="1614488"/>
            <a:ext cx="200025" cy="200025"/>
          </a:xfrm>
          <a:prstGeom prst="roundRect">
            <a:avLst>
              <a:gd name="adj" fmla="val 24490"/>
            </a:avLst>
          </a:prstGeom>
          <a:solidFill>
            <a:srgbClr val="C96442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3410" y="1685925"/>
            <a:ext cx="57150" cy="571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995937" y="1628775"/>
            <a:ext cx="109299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课程笔记 539篇 / 14门课</a:t>
            </a:r>
            <a:endParaRPr lang="en-US" sz="700" dirty="0"/>
          </a:p>
        </p:txBody>
      </p:sp>
      <p:sp>
        <p:nvSpPr>
          <p:cNvPr id="46" name="Text 37"/>
          <p:cNvSpPr/>
          <p:nvPr/>
        </p:nvSpPr>
        <p:spPr>
          <a:xfrm>
            <a:off x="4999174" y="1777231"/>
            <a:ext cx="3729038" cy="4143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计算机安全(142篇)、形式化(70篇)、数据库(64篇)、UML(54篇)、程序测试(52篇)、编译原理(47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篇)、操作系统、数据挖掘、算法设计与分析、计算机网络、并行程序设计、概率论、线性代数、人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机交互</a:t>
            </a:r>
            <a:endParaRPr lang="en-US" sz="600" dirty="0"/>
          </a:p>
        </p:txBody>
      </p:sp>
      <p:sp>
        <p:nvSpPr>
          <p:cNvPr id="47" name="Shape 38"/>
          <p:cNvSpPr/>
          <p:nvPr/>
        </p:nvSpPr>
        <p:spPr>
          <a:xfrm>
            <a:off x="4627699" y="3100388"/>
            <a:ext cx="4186238" cy="1514475"/>
          </a:xfrm>
          <a:prstGeom prst="roundRect">
            <a:avLst>
              <a:gd name="adj" fmla="val 2278"/>
            </a:avLst>
          </a:prstGeom>
          <a:solidFill>
            <a:srgbClr val="30302E"/>
          </a:solidFill>
          <a:ln/>
        </p:spPr>
      </p:sp>
      <p:sp>
        <p:nvSpPr>
          <p:cNvPr id="48" name="Shape 39"/>
          <p:cNvSpPr/>
          <p:nvPr/>
        </p:nvSpPr>
        <p:spPr>
          <a:xfrm>
            <a:off x="4711973" y="3186112"/>
            <a:ext cx="200025" cy="200025"/>
          </a:xfrm>
          <a:prstGeom prst="roundRect">
            <a:avLst>
              <a:gd name="adj" fmla="val 24490"/>
            </a:avLst>
          </a:prstGeom>
          <a:solidFill>
            <a:srgbClr val="C96442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3410" y="3257550"/>
            <a:ext cx="57150" cy="5715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998616" y="3200400"/>
            <a:ext cx="692944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编程笔记 203篇</a:t>
            </a:r>
            <a:endParaRPr lang="en-US" sz="700" dirty="0"/>
          </a:p>
        </p:txBody>
      </p:sp>
      <p:sp>
        <p:nvSpPr>
          <p:cNvPr id="51" name="Text 41"/>
          <p:cNvSpPr/>
          <p:nvPr/>
        </p:nvSpPr>
        <p:spPr>
          <a:xfrm>
            <a:off x="4999174" y="3349526"/>
            <a:ext cx="3729038" cy="550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AI/PyTorch系列(73篇)：Tensor/Model/Loss/Optimizer、注意力机制、微调方法
</a:t>
            </a:r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(SFT/LoRA/DPO/RLHF)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前端工程化(39篇)：React18 Fiber架构、TypeScript、V8引擎底层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算法竞赛(40篇)、Git操作(8篇)、服务器运维(10篇)</a:t>
            </a:r>
            <a:endParaRPr lang="en-US" sz="600" dirty="0"/>
          </a:p>
        </p:txBody>
      </p:sp>
      <p:sp>
        <p:nvSpPr>
          <p:cNvPr id="52" name="Shape 42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53" name="Text 43"/>
          <p:cNvSpPr/>
          <p:nvPr/>
        </p:nvSpPr>
        <p:spPr>
          <a:xfrm>
            <a:off x="214312" y="4775597"/>
            <a:ext cx="1000125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技术能力矩阵与系统性知识管理</a:t>
            </a:r>
            <a:endParaRPr lang="en-US" sz="500" dirty="0"/>
          </a:p>
        </p:txBody>
      </p:sp>
      <p:sp>
        <p:nvSpPr>
          <p:cNvPr id="54" name="Text 44"/>
          <p:cNvSpPr/>
          <p:nvPr/>
        </p:nvSpPr>
        <p:spPr>
          <a:xfrm>
            <a:off x="8667099" y="4786313"/>
            <a:ext cx="264319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 / 12</a:t>
            </a:r>
            <a:endParaRPr lang="en-US" sz="500" dirty="0"/>
          </a:p>
        </p:txBody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7143750" y="428625"/>
            <a:ext cx="1428750" cy="1428750"/>
          </a:xfrm>
          <a:prstGeom prst="ellipse">
            <a:avLst/>
          </a:prstGeom>
          <a:solidFill>
            <a:srgbClr val="E8E6D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8625" y="3714750"/>
            <a:ext cx="1143000" cy="1143000"/>
          </a:xfrm>
          <a:prstGeom prst="ellipse">
            <a:avLst/>
          </a:prstGeom>
          <a:solidFill>
            <a:srgbClr val="F0EEE6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14815" y="264319"/>
            <a:ext cx="4121944" cy="2214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研究生规划：深耕VLM安全，产出高质量学术成果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15" y="486445"/>
            <a:ext cx="4121944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Plan · Graduate Study Roadmap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8407412" y="407194"/>
            <a:ext cx="42863" cy="42863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8" name="Text 6"/>
          <p:cNvSpPr/>
          <p:nvPr/>
        </p:nvSpPr>
        <p:spPr>
          <a:xfrm>
            <a:off x="8507816" y="378619"/>
            <a:ext cx="421481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87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 / 12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14313" y="700088"/>
            <a:ext cx="8715375" cy="2064544"/>
          </a:xfrm>
          <a:prstGeom prst="roundRect">
            <a:avLst>
              <a:gd name="adj" fmla="val 1226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71" y="842963"/>
            <a:ext cx="78581" cy="785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5460" y="814388"/>
            <a:ext cx="9144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研究生三阶段规划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785" y="1035844"/>
            <a:ext cx="2750344" cy="1614488"/>
          </a:xfrm>
          <a:prstGeom prst="roundRect">
            <a:avLst>
              <a:gd name="adj" fmla="val 2005"/>
            </a:avLst>
          </a:prstGeom>
          <a:solidFill>
            <a:srgbClr val="F5F4ED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1135856"/>
            <a:ext cx="200025" cy="200025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4" name="Text 11"/>
          <p:cNvSpPr/>
          <p:nvPr/>
        </p:nvSpPr>
        <p:spPr>
          <a:xfrm>
            <a:off x="503634" y="1185863"/>
            <a:ext cx="50006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684572" y="1175147"/>
            <a:ext cx="928688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研一（上课+科研）</a:t>
            </a:r>
            <a:endParaRPr lang="en-US" sz="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69" y="1425178"/>
            <a:ext cx="50006" cy="500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4553" y="1393031"/>
            <a:ext cx="1721644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深化VLM安全研究，完善白盒注意力分析框架</a:t>
            </a:r>
            <a:endParaRPr lang="en-US" sz="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69" y="1582341"/>
            <a:ext cx="50006" cy="500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3995" y="1550194"/>
            <a:ext cx="1521619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建立"注意力分布→攻击成功率"因果关联</a:t>
            </a:r>
            <a:endParaRPr lang="en-US" sz="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9" y="1739503"/>
            <a:ext cx="50006" cy="500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5670" y="1707356"/>
            <a:ext cx="94297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完成第一篇学术论文工作</a:t>
            </a:r>
            <a:endParaRPr lang="en-US" sz="600" dirty="0"/>
          </a:p>
        </p:txBody>
      </p:sp>
      <p:sp>
        <p:nvSpPr>
          <p:cNvPr id="22" name="Shape 16"/>
          <p:cNvSpPr/>
          <p:nvPr/>
        </p:nvSpPr>
        <p:spPr>
          <a:xfrm>
            <a:off x="3196772" y="1035844"/>
            <a:ext cx="2750344" cy="1614488"/>
          </a:xfrm>
          <a:prstGeom prst="roundRect">
            <a:avLst>
              <a:gd name="adj" fmla="val 2005"/>
            </a:avLst>
          </a:prstGeom>
          <a:solidFill>
            <a:srgbClr val="F5F4ED"/>
          </a:solidFill>
          <a:ln/>
        </p:spPr>
      </p:sp>
      <p:sp>
        <p:nvSpPr>
          <p:cNvPr id="23" name="Shape 17"/>
          <p:cNvSpPr/>
          <p:nvPr/>
        </p:nvSpPr>
        <p:spPr>
          <a:xfrm>
            <a:off x="3295613" y="1135856"/>
            <a:ext cx="200025" cy="200025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24" name="Text 18"/>
          <p:cNvSpPr/>
          <p:nvPr/>
        </p:nvSpPr>
        <p:spPr>
          <a:xfrm>
            <a:off x="3370622" y="1185863"/>
            <a:ext cx="50006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3552788" y="1175147"/>
            <a:ext cx="857250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研二（全职科研）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5557" y="1425178"/>
            <a:ext cx="50006" cy="500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2657" y="1393031"/>
            <a:ext cx="197167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扩展研究范围：从攻击到防御，设计检测与缓解方案</a:t>
            </a:r>
            <a:endParaRPr lang="en-US" sz="6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5557" y="1582341"/>
            <a:ext cx="50006" cy="500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402657" y="1550194"/>
            <a:ext cx="94297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完成第二篇学术论文工作</a:t>
            </a:r>
            <a:endParaRPr lang="en-US" sz="6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5557" y="1739503"/>
            <a:ext cx="50006" cy="5000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402657" y="1707356"/>
            <a:ext cx="162877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保持物理可落地性约束，推动真实场景验证</a:t>
            </a:r>
            <a:endParaRPr lang="en-US" sz="600" dirty="0"/>
          </a:p>
        </p:txBody>
      </p:sp>
      <p:sp>
        <p:nvSpPr>
          <p:cNvPr id="32" name="Shape 23"/>
          <p:cNvSpPr/>
          <p:nvPr/>
        </p:nvSpPr>
        <p:spPr>
          <a:xfrm>
            <a:off x="6063816" y="1035844"/>
            <a:ext cx="2750344" cy="1614488"/>
          </a:xfrm>
          <a:prstGeom prst="roundRect">
            <a:avLst>
              <a:gd name="adj" fmla="val 2005"/>
            </a:avLst>
          </a:prstGeom>
          <a:solidFill>
            <a:srgbClr val="C96442"/>
          </a:solidFill>
          <a:ln/>
        </p:spPr>
      </p:sp>
      <p:sp>
        <p:nvSpPr>
          <p:cNvPr id="33" name="Shape 24"/>
          <p:cNvSpPr/>
          <p:nvPr/>
        </p:nvSpPr>
        <p:spPr>
          <a:xfrm>
            <a:off x="6162601" y="1135856"/>
            <a:ext cx="200025" cy="200025"/>
          </a:xfrm>
          <a:prstGeom prst="ellipse">
            <a:avLst/>
          </a:prstGeom>
          <a:solidFill>
            <a:srgbClr val="FAF9F5"/>
          </a:solidFill>
          <a:ln/>
        </p:spPr>
      </p:sp>
      <p:sp>
        <p:nvSpPr>
          <p:cNvPr id="34" name="Text 25"/>
          <p:cNvSpPr/>
          <p:nvPr/>
        </p:nvSpPr>
        <p:spPr>
          <a:xfrm>
            <a:off x="6237610" y="1185863"/>
            <a:ext cx="50006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6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5" name="Text 26"/>
          <p:cNvSpPr/>
          <p:nvPr/>
        </p:nvSpPr>
        <p:spPr>
          <a:xfrm>
            <a:off x="6418548" y="1175147"/>
            <a:ext cx="928688" cy="121444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研三（实习+毕业）</a:t>
            </a:r>
            <a:endParaRPr lang="en-US" sz="8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2545" y="1425178"/>
            <a:ext cx="50006" cy="5000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268529" y="1393031"/>
            <a:ext cx="1293019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工业界实习，将VLM安全研究落地</a:t>
            </a:r>
            <a:endParaRPr lang="en-US" sz="6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545" y="1582341"/>
            <a:ext cx="50006" cy="5000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69645" y="1550194"/>
            <a:ext cx="1371600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整合两篇学术论工作，完成毕业论文</a:t>
            </a:r>
            <a:endParaRPr lang="en-US" sz="600" dirty="0"/>
          </a:p>
        </p:txBody>
      </p:sp>
      <p:sp>
        <p:nvSpPr>
          <p:cNvPr id="40" name="Shape 29"/>
          <p:cNvSpPr/>
          <p:nvPr/>
        </p:nvSpPr>
        <p:spPr>
          <a:xfrm>
            <a:off x="213308" y="2878931"/>
            <a:ext cx="4693444" cy="1835944"/>
          </a:xfrm>
          <a:prstGeom prst="roundRect">
            <a:avLst>
              <a:gd name="adj" fmla="val 1550"/>
            </a:avLst>
          </a:prstGeom>
          <a:solidFill>
            <a:srgbClr val="141413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775" y="3025378"/>
            <a:ext cx="71438" cy="7143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455526" y="2993231"/>
            <a:ext cx="10287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已有基础与核心优势</a:t>
            </a:r>
            <a:endParaRPr lang="en-US" sz="9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557" y="3604022"/>
            <a:ext cx="50006" cy="50006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36438" y="3571875"/>
            <a:ext cx="3078956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提出ASR分解公式理论框架，将攻击成功率拆解为"被看见×被理解×被服从"三阶段</a:t>
            </a:r>
            <a:endParaRPr lang="en-US" sz="60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8557" y="3775472"/>
            <a:ext cx="50006" cy="50006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37387" y="3743325"/>
            <a:ext cx="2800350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自建白盒注意力提取与三层区域量化框架，SceneTAP三阶段流水线已跑通</a:t>
            </a:r>
            <a:endParaRPr lang="en-US" sz="6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557" y="3946922"/>
            <a:ext cx="50006" cy="50006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435657" y="3914775"/>
            <a:ext cx="2743200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具备图神经网络与注意力机制的扎实理论功底，可快速迁移到新研究方向</a:t>
            </a:r>
            <a:endParaRPr lang="en-US" sz="6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8557" y="4118372"/>
            <a:ext cx="50006" cy="50006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435769" y="4086225"/>
            <a:ext cx="3057525" cy="1285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长期维护个人知识库（783篇笔记），具备系统性学习习惯与跨领域知识迁移能力</a:t>
            </a:r>
            <a:endParaRPr lang="en-US" sz="600" dirty="0"/>
          </a:p>
        </p:txBody>
      </p:sp>
      <p:sp>
        <p:nvSpPr>
          <p:cNvPr id="51" name="Shape 35"/>
          <p:cNvSpPr/>
          <p:nvPr/>
        </p:nvSpPr>
        <p:spPr>
          <a:xfrm>
            <a:off x="5021052" y="2878931"/>
            <a:ext cx="3907631" cy="1835944"/>
          </a:xfrm>
          <a:prstGeom prst="roundRect">
            <a:avLst>
              <a:gd name="adj" fmla="val 1550"/>
            </a:avLst>
          </a:prstGeom>
          <a:solidFill>
            <a:srgbClr val="FAF9F5"/>
          </a:solidFill>
          <a:ln/>
          <a:effectLst>
            <a:outerShdw sx="100000" sy="100000" kx="0" ky="0" algn="bl" rotWithShape="0" blurRad="101600" dist="50800" dir="16200000">
              <a:srgbClr val="F0EEE6">
                <a:alpha val="100000"/>
              </a:srgbClr>
            </a:outerShdw>
          </a:effectLst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3510" y="3025378"/>
            <a:ext cx="71438" cy="71438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5261260" y="2993231"/>
            <a:ext cx="685800" cy="13573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学术产出目标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5135352" y="3559708"/>
            <a:ext cx="3679031" cy="500063"/>
          </a:xfrm>
          <a:prstGeom prst="roundRect">
            <a:avLst>
              <a:gd name="adj" fmla="val 5224"/>
            </a:avLst>
          </a:prstGeom>
          <a:solidFill>
            <a:srgbClr val="C96442"/>
          </a:solidFill>
          <a:ln/>
        </p:spPr>
      </p:sp>
      <p:sp>
        <p:nvSpPr>
          <p:cNvPr id="55" name="Text 38"/>
          <p:cNvSpPr/>
          <p:nvPr/>
        </p:nvSpPr>
        <p:spPr>
          <a:xfrm>
            <a:off x="6499808" y="3645433"/>
            <a:ext cx="950119" cy="1928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2篇学术论文</a:t>
            </a:r>
            <a:endParaRPr lang="en-US" sz="1300" dirty="0"/>
          </a:p>
        </p:txBody>
      </p:sp>
      <p:sp>
        <p:nvSpPr>
          <p:cNvPr id="56" name="Text 39"/>
          <p:cNvSpPr/>
          <p:nvPr/>
        </p:nvSpPr>
        <p:spPr>
          <a:xfrm>
            <a:off x="5221077" y="3866890"/>
            <a:ext cx="3507581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FAF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整合为毕业论文</a:t>
            </a:r>
            <a:endParaRPr lang="en-US" sz="600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33175" y="4149068"/>
            <a:ext cx="57150" cy="5715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5247196" y="4118316"/>
            <a:ext cx="1185863" cy="1071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E5D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代码开源至GitHub，保持可复现性</a:t>
            </a:r>
            <a:endParaRPr lang="en-US" sz="600" dirty="0"/>
          </a:p>
        </p:txBody>
      </p:sp>
      <p:sp>
        <p:nvSpPr>
          <p:cNvPr id="59" name="Shape 41"/>
          <p:cNvSpPr/>
          <p:nvPr/>
        </p:nvSpPr>
        <p:spPr>
          <a:xfrm>
            <a:off x="214313" y="4714875"/>
            <a:ext cx="8715375" cy="214313"/>
          </a:xfrm>
          <a:prstGeom prst="rect">
            <a:avLst/>
          </a:prstGeom>
          <a:ln/>
        </p:spPr>
      </p:sp>
      <p:sp>
        <p:nvSpPr>
          <p:cNvPr id="60" name="Text 42"/>
          <p:cNvSpPr/>
          <p:nvPr/>
        </p:nvSpPr>
        <p:spPr>
          <a:xfrm>
            <a:off x="213643" y="4775597"/>
            <a:ext cx="1521619" cy="100012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王宇飞 · 华东师范大学软件工程 · 2026 保研面试</a:t>
            </a:r>
            <a:endParaRPr lang="en-US" sz="500" dirty="0"/>
          </a:p>
        </p:txBody>
      </p:sp>
      <p:sp>
        <p:nvSpPr>
          <p:cNvPr id="61" name="Text 43"/>
          <p:cNvSpPr/>
          <p:nvPr/>
        </p:nvSpPr>
        <p:spPr>
          <a:xfrm>
            <a:off x="8263868" y="4786313"/>
            <a:ext cx="664369" cy="78581"/>
          </a:xfrm>
          <a:prstGeom prst="rect">
            <a:avLst/>
          </a:prstGeom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· P12 / 12</a:t>
            </a:r>
            <a:endParaRPr lang="en-US" sz="500" dirty="0"/>
          </a:p>
        </p:txBody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14313" y="4714875"/>
            <a:ext cx="8715375" cy="21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2026-09-08T05:29:50Z</dcterms:created>
  <dcterms:modified xsi:type="dcterms:W3CDTF">2026-09-08T05:29:50Z</dcterms:modified>
</cp:coreProperties>
</file>